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75" r:id="rId10"/>
    <p:sldId id="276" r:id="rId11"/>
    <p:sldId id="277" r:id="rId12"/>
    <p:sldId id="278" r:id="rId13"/>
    <p:sldId id="279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7605A68-0CD7-5F25-8756-38BD099CD2D6}" name="Maria Anna Mamica" initials="MM" userId="S::marimam@uio.no::c524482c-0810-4ec1-ab36-06e7d0678e21" providerId="AD"/>
  <p188:author id="{D4E6F28A-63BF-249A-14BB-66F310C8900F}" name="Charlotte Wurtzen" initials="CW" userId="S::charlowu@uio.no::d54617b8-a233-439c-8617-f7dbe569ddd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7A9218-978D-ECD6-5C00-26B3861B3C81}" v="3" dt="2026-01-26T14:52:11.162"/>
    <p1510:client id="{C908ACBD-45AB-B8C8-0774-FA9ADA94BD0A}" v="36" dt="2026-01-26T14:50:42.40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otte Wurtzen" userId="S::charlowu@uio.no::d54617b8-a233-439c-8617-f7dbe569ddd1" providerId="AD" clId="Web-{C908ACBD-45AB-B8C8-0774-FA9ADA94BD0A}"/>
    <pc:docChg chg="addSld delSld modSld">
      <pc:chgData name="Charlotte Wurtzen" userId="S::charlowu@uio.no::d54617b8-a233-439c-8617-f7dbe569ddd1" providerId="AD" clId="Web-{C908ACBD-45AB-B8C8-0774-FA9ADA94BD0A}" dt="2026-01-26T14:50:42.406" v="34"/>
      <pc:docMkLst>
        <pc:docMk/>
      </pc:docMkLst>
      <pc:sldChg chg="del">
        <pc:chgData name="Charlotte Wurtzen" userId="S::charlowu@uio.no::d54617b8-a233-439c-8617-f7dbe569ddd1" providerId="AD" clId="Web-{C908ACBD-45AB-B8C8-0774-FA9ADA94BD0A}" dt="2026-01-26T14:46:21.982" v="4"/>
        <pc:sldMkLst>
          <pc:docMk/>
          <pc:sldMk cId="0" sldId="262"/>
        </pc:sldMkLst>
      </pc:sldChg>
      <pc:sldChg chg="del">
        <pc:chgData name="Charlotte Wurtzen" userId="S::charlowu@uio.no::d54617b8-a233-439c-8617-f7dbe569ddd1" providerId="AD" clId="Web-{C908ACBD-45AB-B8C8-0774-FA9ADA94BD0A}" dt="2026-01-26T14:50:42.406" v="34"/>
        <pc:sldMkLst>
          <pc:docMk/>
          <pc:sldMk cId="165284253" sldId="266"/>
        </pc:sldMkLst>
      </pc:sldChg>
      <pc:sldChg chg="del">
        <pc:chgData name="Charlotte Wurtzen" userId="S::charlowu@uio.no::d54617b8-a233-439c-8617-f7dbe569ddd1" providerId="AD" clId="Web-{C908ACBD-45AB-B8C8-0774-FA9ADA94BD0A}" dt="2026-01-26T14:46:48.060" v="8"/>
        <pc:sldMkLst>
          <pc:docMk/>
          <pc:sldMk cId="45819180" sldId="267"/>
        </pc:sldMkLst>
      </pc:sldChg>
      <pc:sldChg chg="del">
        <pc:chgData name="Charlotte Wurtzen" userId="S::charlowu@uio.no::d54617b8-a233-439c-8617-f7dbe569ddd1" providerId="AD" clId="Web-{C908ACBD-45AB-B8C8-0774-FA9ADA94BD0A}" dt="2026-01-26T14:47:57.607" v="28"/>
        <pc:sldMkLst>
          <pc:docMk/>
          <pc:sldMk cId="2755342368" sldId="270"/>
        </pc:sldMkLst>
      </pc:sldChg>
      <pc:sldChg chg="del">
        <pc:chgData name="Charlotte Wurtzen" userId="S::charlowu@uio.no::d54617b8-a233-439c-8617-f7dbe569ddd1" providerId="AD" clId="Web-{C908ACBD-45AB-B8C8-0774-FA9ADA94BD0A}" dt="2026-01-26T14:48:23.998" v="30"/>
        <pc:sldMkLst>
          <pc:docMk/>
          <pc:sldMk cId="3619486267" sldId="271"/>
        </pc:sldMkLst>
      </pc:sldChg>
      <pc:sldChg chg="add">
        <pc:chgData name="Charlotte Wurtzen" userId="S::charlowu@uio.no::d54617b8-a233-439c-8617-f7dbe569ddd1" providerId="AD" clId="Web-{C908ACBD-45AB-B8C8-0774-FA9ADA94BD0A}" dt="2026-01-26T14:45:50.779" v="0"/>
        <pc:sldMkLst>
          <pc:docMk/>
          <pc:sldMk cId="2410663038" sldId="273"/>
        </pc:sldMkLst>
      </pc:sldChg>
      <pc:sldChg chg="delSp modSp add delAnim">
        <pc:chgData name="Charlotte Wurtzen" userId="S::charlowu@uio.no::d54617b8-a233-439c-8617-f7dbe569ddd1" providerId="AD" clId="Web-{C908ACBD-45AB-B8C8-0774-FA9ADA94BD0A}" dt="2026-01-26T14:46:13.169" v="3"/>
        <pc:sldMkLst>
          <pc:docMk/>
          <pc:sldMk cId="2184803175" sldId="274"/>
        </pc:sldMkLst>
        <pc:spChg chg="del mod">
          <ac:chgData name="Charlotte Wurtzen" userId="S::charlowu@uio.no::d54617b8-a233-439c-8617-f7dbe569ddd1" providerId="AD" clId="Web-{C908ACBD-45AB-B8C8-0774-FA9ADA94BD0A}" dt="2026-01-26T14:46:13.169" v="3"/>
          <ac:spMkLst>
            <pc:docMk/>
            <pc:sldMk cId="2184803175" sldId="274"/>
            <ac:spMk id="8" creationId="{9A782E08-7711-79C6-ADA7-40C54167F8D7}"/>
          </ac:spMkLst>
        </pc:spChg>
      </pc:sldChg>
      <pc:sldChg chg="delSp modSp add">
        <pc:chgData name="Charlotte Wurtzen" userId="S::charlowu@uio.no::d54617b8-a233-439c-8617-f7dbe569ddd1" providerId="AD" clId="Web-{C908ACBD-45AB-B8C8-0774-FA9ADA94BD0A}" dt="2026-01-26T14:46:43.060" v="7"/>
        <pc:sldMkLst>
          <pc:docMk/>
          <pc:sldMk cId="479970708" sldId="275"/>
        </pc:sldMkLst>
        <pc:spChg chg="del mod">
          <ac:chgData name="Charlotte Wurtzen" userId="S::charlowu@uio.no::d54617b8-a233-439c-8617-f7dbe569ddd1" providerId="AD" clId="Web-{C908ACBD-45AB-B8C8-0774-FA9ADA94BD0A}" dt="2026-01-26T14:46:43.060" v="7"/>
          <ac:spMkLst>
            <pc:docMk/>
            <pc:sldMk cId="479970708" sldId="275"/>
            <ac:spMk id="8" creationId="{C4CF4310-A793-048A-9154-5B11F5CDAE87}"/>
          </ac:spMkLst>
        </pc:spChg>
      </pc:sldChg>
      <pc:sldChg chg="delSp modSp add">
        <pc:chgData name="Charlotte Wurtzen" userId="S::charlowu@uio.no::d54617b8-a233-439c-8617-f7dbe569ddd1" providerId="AD" clId="Web-{C908ACBD-45AB-B8C8-0774-FA9ADA94BD0A}" dt="2026-01-26T14:47:49.310" v="27" actId="20577"/>
        <pc:sldMkLst>
          <pc:docMk/>
          <pc:sldMk cId="258360402" sldId="276"/>
        </pc:sldMkLst>
        <pc:spChg chg="del">
          <ac:chgData name="Charlotte Wurtzen" userId="S::charlowu@uio.no::d54617b8-a233-439c-8617-f7dbe569ddd1" providerId="AD" clId="Web-{C908ACBD-45AB-B8C8-0774-FA9ADA94BD0A}" dt="2026-01-26T14:47:03.872" v="10"/>
          <ac:spMkLst>
            <pc:docMk/>
            <pc:sldMk cId="258360402" sldId="276"/>
            <ac:spMk id="8" creationId="{2AAC7B63-BE72-B2FE-D4B8-2798E4CE5E53}"/>
          </ac:spMkLst>
        </pc:spChg>
        <pc:spChg chg="mod">
          <ac:chgData name="Charlotte Wurtzen" userId="S::charlowu@uio.no::d54617b8-a233-439c-8617-f7dbe569ddd1" providerId="AD" clId="Web-{C908ACBD-45AB-B8C8-0774-FA9ADA94BD0A}" dt="2026-01-26T14:47:49.310" v="27" actId="20577"/>
          <ac:spMkLst>
            <pc:docMk/>
            <pc:sldMk cId="258360402" sldId="276"/>
            <ac:spMk id="14" creationId="{463C95D3-C53E-78AB-F6AB-AC75683FC6C2}"/>
          </ac:spMkLst>
        </pc:spChg>
      </pc:sldChg>
      <pc:sldChg chg="delSp modSp add">
        <pc:chgData name="Charlotte Wurtzen" userId="S::charlowu@uio.no::d54617b8-a233-439c-8617-f7dbe569ddd1" providerId="AD" clId="Web-{C908ACBD-45AB-B8C8-0774-FA9ADA94BD0A}" dt="2026-01-26T14:48:28.857" v="32"/>
        <pc:sldMkLst>
          <pc:docMk/>
          <pc:sldMk cId="2767779409" sldId="277"/>
        </pc:sldMkLst>
        <pc:spChg chg="del mod">
          <ac:chgData name="Charlotte Wurtzen" userId="S::charlowu@uio.no::d54617b8-a233-439c-8617-f7dbe569ddd1" providerId="AD" clId="Web-{C908ACBD-45AB-B8C8-0774-FA9ADA94BD0A}" dt="2026-01-26T14:48:28.857" v="32"/>
          <ac:spMkLst>
            <pc:docMk/>
            <pc:sldMk cId="2767779409" sldId="277"/>
            <ac:spMk id="2" creationId="{874ABA2A-9F2C-092C-B1FD-3804BA140983}"/>
          </ac:spMkLst>
        </pc:spChg>
      </pc:sldChg>
      <pc:sldChg chg="add">
        <pc:chgData name="Charlotte Wurtzen" userId="S::charlowu@uio.no::d54617b8-a233-439c-8617-f7dbe569ddd1" providerId="AD" clId="Web-{C908ACBD-45AB-B8C8-0774-FA9ADA94BD0A}" dt="2026-01-26T14:50:24.202" v="33"/>
        <pc:sldMkLst>
          <pc:docMk/>
          <pc:sldMk cId="2174942613" sldId="278"/>
        </pc:sldMkLst>
      </pc:sldChg>
    </pc:docChg>
  </pc:docChgLst>
  <pc:docChgLst>
    <pc:chgData name="Charlotte Wurtzen" userId="S::charlowu@uio.no::d54617b8-a233-439c-8617-f7dbe569ddd1" providerId="AD" clId="Web-{187A9218-978D-ECD6-5C00-26B3861B3C81}"/>
    <pc:docChg chg="addSld delSld modSld">
      <pc:chgData name="Charlotte Wurtzen" userId="S::charlowu@uio.no::d54617b8-a233-439c-8617-f7dbe569ddd1" providerId="AD" clId="Web-{187A9218-978D-ECD6-5C00-26B3861B3C81}" dt="2026-01-26T14:52:11.162" v="2"/>
      <pc:docMkLst>
        <pc:docMk/>
      </pc:docMkLst>
      <pc:sldChg chg="del">
        <pc:chgData name="Charlotte Wurtzen" userId="S::charlowu@uio.no::d54617b8-a233-439c-8617-f7dbe569ddd1" providerId="AD" clId="Web-{187A9218-978D-ECD6-5C00-26B3861B3C81}" dt="2026-01-26T14:52:11.162" v="2"/>
        <pc:sldMkLst>
          <pc:docMk/>
          <pc:sldMk cId="2972842313" sldId="268"/>
        </pc:sldMkLst>
      </pc:sldChg>
      <pc:sldChg chg="modSp add">
        <pc:chgData name="Charlotte Wurtzen" userId="S::charlowu@uio.no::d54617b8-a233-439c-8617-f7dbe569ddd1" providerId="AD" clId="Web-{187A9218-978D-ECD6-5C00-26B3861B3C81}" dt="2026-01-26T14:52:05.490" v="1" actId="20577"/>
        <pc:sldMkLst>
          <pc:docMk/>
          <pc:sldMk cId="3291874890" sldId="279"/>
        </pc:sldMkLst>
        <pc:spChg chg="mod">
          <ac:chgData name="Charlotte Wurtzen" userId="S::charlowu@uio.no::d54617b8-a233-439c-8617-f7dbe569ddd1" providerId="AD" clId="Web-{187A9218-978D-ECD6-5C00-26B3861B3C81}" dt="2026-01-26T14:52:05.490" v="1" actId="20577"/>
          <ac:spMkLst>
            <pc:docMk/>
            <pc:sldMk cId="3291874890" sldId="279"/>
            <ac:spMk id="5" creationId="{88AFA60D-315B-2A99-6DF4-FBB02FD7AA77}"/>
          </ac:spMkLst>
        </pc:spChg>
      </pc:sldChg>
    </pc:docChg>
  </pc:docChgLst>
  <pc:docChgLst>
    <pc:chgData name="Maria Anna Mamica" userId="S::marimam@uio.no::c524482c-0810-4ec1-ab36-06e7d0678e21" providerId="AD" clId="Web-{59FA64F3-8D24-590C-88A0-A05C28069D57}"/>
    <pc:docChg chg="addSld delSld modSld">
      <pc:chgData name="Maria Anna Mamica" userId="S::marimam@uio.no::c524482c-0810-4ec1-ab36-06e7d0678e21" providerId="AD" clId="Web-{59FA64F3-8D24-590C-88A0-A05C28069D57}" dt="2026-01-15T10:30:55.045" v="6"/>
      <pc:docMkLst>
        <pc:docMk/>
      </pc:docMkLst>
      <pc:sldChg chg="delSp modSp delAnim">
        <pc:chgData name="Maria Anna Mamica" userId="S::marimam@uio.no::c524482c-0810-4ec1-ab36-06e7d0678e21" providerId="AD" clId="Web-{59FA64F3-8D24-590C-88A0-A05C28069D57}" dt="2026-01-15T10:30:55.045" v="6"/>
        <pc:sldMkLst>
          <pc:docMk/>
          <pc:sldMk cId="0" sldId="262"/>
        </pc:sldMkLst>
        <pc:spChg chg="del mod">
          <ac:chgData name="Maria Anna Mamica" userId="S::marimam@uio.no::c524482c-0810-4ec1-ab36-06e7d0678e21" providerId="AD" clId="Web-{59FA64F3-8D24-590C-88A0-A05C28069D57}" dt="2026-01-15T10:30:55.045" v="6"/>
          <ac:spMkLst>
            <pc:docMk/>
            <pc:sldMk cId="0" sldId="262"/>
            <ac:spMk id="8" creationId="{9A782E08-7711-79C6-ADA7-40C54167F8D7}"/>
          </ac:spMkLst>
        </pc:spChg>
      </pc:sldChg>
      <pc:sldChg chg="del">
        <pc:chgData name="Maria Anna Mamica" userId="S::marimam@uio.no::c524482c-0810-4ec1-ab36-06e7d0678e21" providerId="AD" clId="Web-{59FA64F3-8D24-590C-88A0-A05C28069D57}" dt="2026-01-15T10:30:03.888" v="0"/>
        <pc:sldMkLst>
          <pc:docMk/>
          <pc:sldMk cId="3305399201" sldId="263"/>
        </pc:sldMkLst>
      </pc:sldChg>
      <pc:sldChg chg="del">
        <pc:chgData name="Maria Anna Mamica" userId="S::marimam@uio.no::c524482c-0810-4ec1-ab36-06e7d0678e21" providerId="AD" clId="Web-{59FA64F3-8D24-590C-88A0-A05C28069D57}" dt="2026-01-15T10:30:05.419" v="1"/>
        <pc:sldMkLst>
          <pc:docMk/>
          <pc:sldMk cId="722773805" sldId="264"/>
        </pc:sldMkLst>
      </pc:sldChg>
      <pc:sldChg chg="add del">
        <pc:chgData name="Maria Anna Mamica" userId="S::marimam@uio.no::c524482c-0810-4ec1-ab36-06e7d0678e21" providerId="AD" clId="Web-{59FA64F3-8D24-590C-88A0-A05C28069D57}" dt="2026-01-15T10:30:32.498" v="4"/>
        <pc:sldMkLst>
          <pc:docMk/>
          <pc:sldMk cId="3472366512" sldId="272"/>
        </pc:sldMkLst>
      </pc:sldChg>
    </pc:docChg>
  </pc:docChgLst>
  <pc:docChgLst>
    <pc:chgData name="Maria Anna Mamica" userId="S::marimam@uio.no::c524482c-0810-4ec1-ab36-06e7d0678e21" providerId="AD" clId="Web-{9A682337-91ED-4F3A-60CB-6AC2C46A7F69}"/>
    <pc:docChg chg="modSld">
      <pc:chgData name="Maria Anna Mamica" userId="S::marimam@uio.no::c524482c-0810-4ec1-ab36-06e7d0678e21" providerId="AD" clId="Web-{9A682337-91ED-4F3A-60CB-6AC2C46A7F69}" dt="2026-01-15T10:33:48.661" v="1"/>
      <pc:docMkLst>
        <pc:docMk/>
      </pc:docMkLst>
      <pc:sldChg chg="delSp">
        <pc:chgData name="Maria Anna Mamica" userId="S::marimam@uio.no::c524482c-0810-4ec1-ab36-06e7d0678e21" providerId="AD" clId="Web-{9A682337-91ED-4F3A-60CB-6AC2C46A7F69}" dt="2026-01-15T10:33:48.661" v="1"/>
        <pc:sldMkLst>
          <pc:docMk/>
          <pc:sldMk cId="45819180" sldId="267"/>
        </pc:sldMkLst>
        <pc:spChg chg="del">
          <ac:chgData name="Maria Anna Mamica" userId="S::marimam@uio.no::c524482c-0810-4ec1-ab36-06e7d0678e21" providerId="AD" clId="Web-{9A682337-91ED-4F3A-60CB-6AC2C46A7F69}" dt="2026-01-15T10:33:48.661" v="1"/>
          <ac:spMkLst>
            <pc:docMk/>
            <pc:sldMk cId="45819180" sldId="267"/>
            <ac:spMk id="8" creationId="{C4CF4310-A793-048A-9154-5B11F5CDAE87}"/>
          </ac:spMkLst>
        </pc:spChg>
      </pc:sldChg>
      <pc:sldChg chg="delSp">
        <pc:chgData name="Maria Anna Mamica" userId="S::marimam@uio.no::c524482c-0810-4ec1-ab36-06e7d0678e21" providerId="AD" clId="Web-{9A682337-91ED-4F3A-60CB-6AC2C46A7F69}" dt="2026-01-15T10:33:45.380" v="0"/>
        <pc:sldMkLst>
          <pc:docMk/>
          <pc:sldMk cId="2755342368" sldId="270"/>
        </pc:sldMkLst>
        <pc:spChg chg="del">
          <ac:chgData name="Maria Anna Mamica" userId="S::marimam@uio.no::c524482c-0810-4ec1-ab36-06e7d0678e21" providerId="AD" clId="Web-{9A682337-91ED-4F3A-60CB-6AC2C46A7F69}" dt="2026-01-15T10:33:45.380" v="0"/>
          <ac:spMkLst>
            <pc:docMk/>
            <pc:sldMk cId="2755342368" sldId="270"/>
            <ac:spMk id="8" creationId="{2AAC7B63-BE72-B2FE-D4B8-2798E4CE5E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Vår 2026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r>
              <a:t>Vår 2026</a:t>
            </a:r>
          </a:p>
        </p:txBody>
      </p:sp>
      <p:sp>
        <p:nvSpPr>
          <p:cNvPr id="152" name="Vektorrom-representasjoner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Vektorrom-representasjoner</a:t>
            </a:r>
          </a:p>
        </p:txBody>
      </p:sp>
      <p:sp>
        <p:nvSpPr>
          <p:cNvPr id="153" name="IN1160 - seminar - uke 2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IN1160 - seminar - uke 2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Om seminare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Om seminarene</a:t>
            </a:r>
          </a:p>
        </p:txBody>
      </p:sp>
      <p:sp>
        <p:nvSpPr>
          <p:cNvPr id="15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7" name="Faglig-sosial arena for lær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Faglig-sosial arena for læring</a:t>
            </a:r>
          </a:p>
          <a:p>
            <a:r>
              <a:t>Gruppelærer er fasilisator: legge til rette for læring</a:t>
            </a:r>
          </a:p>
          <a:p>
            <a:r>
              <a:t>Aktiv læring: skrive, reflektere, diskutere om temaer fra forelesningen</a:t>
            </a:r>
          </a:p>
          <a:p>
            <a:r>
              <a:t>Lære med og av hverandre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Bli kjent med hverandre: vektor, trekk og representasj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1926287">
              <a:defRPr sz="6715" spc="-134"/>
            </a:lvl1pPr>
          </a:lstStyle>
          <a:p>
            <a:r>
              <a:t>Bli kjent med hverandre: vektor, trekk og representasjon </a:t>
            </a:r>
          </a:p>
        </p:txBody>
      </p:sp>
      <p:pic>
        <p:nvPicPr>
          <p:cNvPr id="160" name="Screenshot 2025-11-19 at 15.39.54.png" descr="Screenshot 2025-11-19 at 15.39.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764" y="5729641"/>
            <a:ext cx="19349805" cy="4738728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61" name="Table"/>
          <p:cNvGraphicFramePr/>
          <p:nvPr>
            <p:extLst>
              <p:ext uri="{D42A27DB-BD31-4B8C-83A1-F6EECF244321}">
                <p14:modId xmlns:p14="http://schemas.microsoft.com/office/powerpoint/2010/main" val="2229094008"/>
              </p:ext>
            </p:extLst>
          </p:nvPr>
        </p:nvGraphicFramePr>
        <p:xfrm>
          <a:off x="14228293" y="11238761"/>
          <a:ext cx="8096834" cy="167043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000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1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6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5215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Helene 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= 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[</a:t>
                      </a:r>
                      <a:r>
                        <a:rPr sz="3200" err="1"/>
                        <a:t>kaffe</a:t>
                      </a:r>
                      <a:r>
                        <a:rPr sz="3200"/>
                        <a:t>, 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 err="1"/>
                        <a:t>høyde</a:t>
                      </a:r>
                      <a:r>
                        <a:rPr sz="3200"/>
                        <a:t>, 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 err="1"/>
                        <a:t>språk</a:t>
                      </a:r>
                      <a:r>
                        <a:rPr sz="3200"/>
                        <a:t>]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215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Helene 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= 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[1, 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0" i="0" u="none" strike="noStrike" noProof="0">
                          <a:solidFill>
                            <a:srgbClr val="000000"/>
                          </a:solidFill>
                          <a:latin typeface="Helvetica Neue"/>
                        </a:rPr>
                        <a:t>170,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buNone/>
                        <a:defRPr sz="3200"/>
                      </a:pPr>
                      <a:r>
                        <a:rPr lang="en-US" sz="3200" b="0" i="0" u="none" strike="noStrike" noProof="0">
                          <a:solidFill>
                            <a:srgbClr val="000000"/>
                          </a:solidFill>
                          <a:latin typeface="Helvetica Neue"/>
                        </a:rPr>
                        <a:t>3]</a:t>
                      </a:r>
                      <a:endParaRPr lang="en-US"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2" name="Eksempel:"/>
          <p:cNvSpPr txBox="1"/>
          <p:nvPr/>
        </p:nvSpPr>
        <p:spPr>
          <a:xfrm>
            <a:off x="11378945" y="11843447"/>
            <a:ext cx="1626109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t>Eksempel:</a:t>
            </a:r>
          </a:p>
        </p:txBody>
      </p:sp>
      <p:sp>
        <p:nvSpPr>
          <p:cNvPr id="163" name="Lag din egen personvektor"/>
          <p:cNvSpPr txBox="1"/>
          <p:nvPr/>
        </p:nvSpPr>
        <p:spPr>
          <a:xfrm>
            <a:off x="1165650" y="4133178"/>
            <a:ext cx="8628703" cy="1416002"/>
          </a:xfrm>
          <a:prstGeom prst="rect">
            <a:avLst/>
          </a:prstGeom>
          <a:ln w="25400">
            <a:solidFill>
              <a:srgbClr val="E1325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lvl1pPr>
          </a:lstStyle>
          <a:p>
            <a:r>
              <a:t>Lag din egen personvektor</a:t>
            </a:r>
          </a:p>
        </p:txBody>
      </p:sp>
      <p:sp>
        <p:nvSpPr>
          <p:cNvPr id="164" name="Oppgave:"/>
          <p:cNvSpPr/>
          <p:nvPr/>
        </p:nvSpPr>
        <p:spPr>
          <a:xfrm>
            <a:off x="1165650" y="3247631"/>
            <a:ext cx="4166814" cy="909380"/>
          </a:xfrm>
          <a:prstGeom prst="rect">
            <a:avLst/>
          </a:prstGeom>
          <a:solidFill>
            <a:srgbClr val="FFFFFF"/>
          </a:solidFill>
          <a:ln w="25400">
            <a:solidFill>
              <a:srgbClr val="E1325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b="1" err="1"/>
              <a:t>Oppgave</a:t>
            </a:r>
            <a:r>
              <a:t>: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Bli kjent med hverandre: vektor, trekk og representasj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1926287">
              <a:defRPr sz="6715" spc="-134"/>
            </a:lvl1pPr>
          </a:lstStyle>
          <a:p>
            <a:r>
              <a:t>Bli kjent med hverandre: vektor, trekk og representasjon </a:t>
            </a:r>
          </a:p>
        </p:txBody>
      </p:sp>
      <p:sp>
        <p:nvSpPr>
          <p:cNvPr id="167" name="Diskuter i par (7 min)"/>
          <p:cNvSpPr txBox="1">
            <a:spLocks noGrp="1"/>
          </p:cNvSpPr>
          <p:nvPr>
            <p:ph type="body" idx="21"/>
          </p:nvPr>
        </p:nvSpPr>
        <p:spPr>
          <a:xfrm>
            <a:off x="1206500" y="3089543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err="1"/>
              <a:t>Diskuter</a:t>
            </a:r>
            <a:r>
              <a:t> </a:t>
            </a:r>
            <a:r>
              <a:rPr err="1"/>
              <a:t>i</a:t>
            </a:r>
            <a:r>
              <a:t> par (7 min)</a:t>
            </a:r>
          </a:p>
        </p:txBody>
      </p:sp>
      <p:sp>
        <p:nvSpPr>
          <p:cNvPr id="168" name="Sammenlikn vektor-representasjonene:…"/>
          <p:cNvSpPr txBox="1"/>
          <p:nvPr/>
        </p:nvSpPr>
        <p:spPr>
          <a:xfrm>
            <a:off x="1206500" y="4601204"/>
            <a:ext cx="21712088" cy="7677903"/>
          </a:xfrm>
          <a:prstGeom prst="rect">
            <a:avLst/>
          </a:prstGeom>
          <a:ln w="25400">
            <a:solidFill>
              <a:srgbClr val="E1325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Sammenlikn vektor-representasjonene:</a:t>
            </a:r>
          </a:p>
          <a:p>
            <a:pPr marL="1219200" lvl="1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Hva lærer dere om den andre personen ved å studere vektoren? </a:t>
            </a:r>
          </a:p>
          <a:p>
            <a:pPr marL="1219200" lvl="1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På hvilken måte er dere like og ulike? </a:t>
            </a:r>
          </a:p>
          <a:p>
            <a:pPr marL="1219200" lvl="1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Hva er forskjellen mellom deg i "virkeligheten" og deg som "vektor"? </a:t>
            </a:r>
          </a:p>
          <a:p>
            <a:pPr marL="1219200" lvl="1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Hvilke andre trekk kunne vi lagt til for at vektoren ble mer meningsfylt?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Undervisningsrom som Vektorro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Undervisningsrom som Vektorrom</a:t>
            </a:r>
          </a:p>
        </p:txBody>
      </p:sp>
      <p:sp>
        <p:nvSpPr>
          <p:cNvPr id="171" name="Rectangle"/>
          <p:cNvSpPr/>
          <p:nvPr/>
        </p:nvSpPr>
        <p:spPr>
          <a:xfrm>
            <a:off x="2370423" y="4251369"/>
            <a:ext cx="10899117" cy="7223696"/>
          </a:xfrm>
          <a:prstGeom prst="rect">
            <a:avLst/>
          </a:prstGeom>
          <a:ln w="101600">
            <a:solidFill>
              <a:srgbClr val="1B103D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72" name="Line"/>
          <p:cNvSpPr/>
          <p:nvPr/>
        </p:nvSpPr>
        <p:spPr>
          <a:xfrm flipV="1">
            <a:off x="1893294" y="4222837"/>
            <a:ext cx="1" cy="6783531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3" name="Line"/>
          <p:cNvSpPr/>
          <p:nvPr/>
        </p:nvSpPr>
        <p:spPr>
          <a:xfrm>
            <a:off x="2402348" y="12099738"/>
            <a:ext cx="9938577" cy="1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4" name="Chair"/>
          <p:cNvSpPr/>
          <p:nvPr/>
        </p:nvSpPr>
        <p:spPr>
          <a:xfrm>
            <a:off x="8024685" y="7149173"/>
            <a:ext cx="2739373" cy="33664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75" extrusionOk="0">
                <a:moveTo>
                  <a:pt x="19748" y="3"/>
                </a:moveTo>
                <a:cubicBezTo>
                  <a:pt x="19500" y="-25"/>
                  <a:pt x="19269" y="113"/>
                  <a:pt x="19228" y="313"/>
                </a:cubicBezTo>
                <a:lnTo>
                  <a:pt x="17274" y="9415"/>
                </a:lnTo>
                <a:cubicBezTo>
                  <a:pt x="17210" y="9715"/>
                  <a:pt x="17210" y="10021"/>
                  <a:pt x="17276" y="10321"/>
                </a:cubicBezTo>
                <a:lnTo>
                  <a:pt x="17770" y="12234"/>
                </a:lnTo>
                <a:lnTo>
                  <a:pt x="3899" y="11477"/>
                </a:lnTo>
                <a:cubicBezTo>
                  <a:pt x="3299" y="11448"/>
                  <a:pt x="2762" y="11777"/>
                  <a:pt x="2634" y="12254"/>
                </a:cubicBezTo>
                <a:lnTo>
                  <a:pt x="0" y="21575"/>
                </a:lnTo>
                <a:lnTo>
                  <a:pt x="1501" y="21575"/>
                </a:lnTo>
                <a:lnTo>
                  <a:pt x="3905" y="14727"/>
                </a:lnTo>
                <a:cubicBezTo>
                  <a:pt x="4178" y="14061"/>
                  <a:pt x="4985" y="13637"/>
                  <a:pt x="5896" y="13682"/>
                </a:cubicBezTo>
                <a:lnTo>
                  <a:pt x="16629" y="14206"/>
                </a:lnTo>
                <a:cubicBezTo>
                  <a:pt x="17536" y="14250"/>
                  <a:pt x="18294" y="14752"/>
                  <a:pt x="18500" y="15443"/>
                </a:cubicBezTo>
                <a:lnTo>
                  <a:pt x="20287" y="21575"/>
                </a:lnTo>
                <a:lnTo>
                  <a:pt x="21600" y="21575"/>
                </a:lnTo>
                <a:lnTo>
                  <a:pt x="21165" y="19444"/>
                </a:lnTo>
                <a:lnTo>
                  <a:pt x="19771" y="12633"/>
                </a:lnTo>
                <a:lnTo>
                  <a:pt x="19711" y="12340"/>
                </a:lnTo>
                <a:lnTo>
                  <a:pt x="19265" y="10167"/>
                </a:lnTo>
                <a:cubicBezTo>
                  <a:pt x="19222" y="9957"/>
                  <a:pt x="19223" y="9742"/>
                  <a:pt x="19267" y="9532"/>
                </a:cubicBezTo>
                <a:lnTo>
                  <a:pt x="21144" y="521"/>
                </a:lnTo>
                <a:cubicBezTo>
                  <a:pt x="21187" y="312"/>
                  <a:pt x="21010" y="115"/>
                  <a:pt x="20752" y="86"/>
                </a:cubicBezTo>
                <a:lnTo>
                  <a:pt x="19748" y="3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75" name="Man"/>
          <p:cNvSpPr/>
          <p:nvPr/>
        </p:nvSpPr>
        <p:spPr>
          <a:xfrm>
            <a:off x="8728714" y="4822616"/>
            <a:ext cx="1612789" cy="41636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0" h="21502" extrusionOk="0">
                <a:moveTo>
                  <a:pt x="10246" y="10"/>
                </a:moveTo>
                <a:cubicBezTo>
                  <a:pt x="9651" y="39"/>
                  <a:pt x="9052" y="142"/>
                  <a:pt x="8490" y="331"/>
                </a:cubicBezTo>
                <a:cubicBezTo>
                  <a:pt x="7409" y="697"/>
                  <a:pt x="7827" y="1471"/>
                  <a:pt x="7827" y="1471"/>
                </a:cubicBezTo>
                <a:cubicBezTo>
                  <a:pt x="7827" y="1471"/>
                  <a:pt x="7467" y="1472"/>
                  <a:pt x="7689" y="1837"/>
                </a:cubicBezTo>
                <a:cubicBezTo>
                  <a:pt x="7827" y="2069"/>
                  <a:pt x="7730" y="2122"/>
                  <a:pt x="8174" y="2197"/>
                </a:cubicBezTo>
                <a:cubicBezTo>
                  <a:pt x="8285" y="2477"/>
                  <a:pt x="8629" y="2493"/>
                  <a:pt x="8629" y="2983"/>
                </a:cubicBezTo>
                <a:cubicBezTo>
                  <a:pt x="8629" y="2988"/>
                  <a:pt x="8355" y="2978"/>
                  <a:pt x="8161" y="3134"/>
                </a:cubicBezTo>
                <a:cubicBezTo>
                  <a:pt x="8106" y="3177"/>
                  <a:pt x="8049" y="3322"/>
                  <a:pt x="7827" y="3359"/>
                </a:cubicBezTo>
                <a:cubicBezTo>
                  <a:pt x="6842" y="3542"/>
                  <a:pt x="4636" y="3731"/>
                  <a:pt x="4095" y="3941"/>
                </a:cubicBezTo>
                <a:cubicBezTo>
                  <a:pt x="3332" y="4237"/>
                  <a:pt x="185" y="6557"/>
                  <a:pt x="185" y="6783"/>
                </a:cubicBezTo>
                <a:cubicBezTo>
                  <a:pt x="185" y="7133"/>
                  <a:pt x="112" y="7369"/>
                  <a:pt x="306" y="7546"/>
                </a:cubicBezTo>
                <a:cubicBezTo>
                  <a:pt x="1138" y="8300"/>
                  <a:pt x="2140" y="9548"/>
                  <a:pt x="3388" y="10139"/>
                </a:cubicBezTo>
                <a:cubicBezTo>
                  <a:pt x="3555" y="10220"/>
                  <a:pt x="3874" y="10313"/>
                  <a:pt x="4290" y="10366"/>
                </a:cubicBezTo>
                <a:cubicBezTo>
                  <a:pt x="4706" y="10420"/>
                  <a:pt x="5414" y="10539"/>
                  <a:pt x="5400" y="10636"/>
                </a:cubicBezTo>
                <a:cubicBezTo>
                  <a:pt x="5261" y="11507"/>
                  <a:pt x="4984" y="13595"/>
                  <a:pt x="4775" y="14591"/>
                </a:cubicBezTo>
                <a:cubicBezTo>
                  <a:pt x="4637" y="15242"/>
                  <a:pt x="4526" y="15984"/>
                  <a:pt x="4429" y="16447"/>
                </a:cubicBezTo>
                <a:cubicBezTo>
                  <a:pt x="4262" y="17244"/>
                  <a:pt x="4221" y="18180"/>
                  <a:pt x="3666" y="19165"/>
                </a:cubicBezTo>
                <a:cubicBezTo>
                  <a:pt x="3416" y="19617"/>
                  <a:pt x="2972" y="20214"/>
                  <a:pt x="3250" y="20214"/>
                </a:cubicBezTo>
                <a:cubicBezTo>
                  <a:pt x="2833" y="20612"/>
                  <a:pt x="1236" y="20827"/>
                  <a:pt x="432" y="20913"/>
                </a:cubicBezTo>
                <a:cubicBezTo>
                  <a:pt x="154" y="20940"/>
                  <a:pt x="-25" y="21043"/>
                  <a:pt x="3" y="21156"/>
                </a:cubicBezTo>
                <a:lnTo>
                  <a:pt x="29" y="21225"/>
                </a:lnTo>
                <a:cubicBezTo>
                  <a:pt x="43" y="21311"/>
                  <a:pt x="324" y="21344"/>
                  <a:pt x="393" y="21344"/>
                </a:cubicBezTo>
                <a:cubicBezTo>
                  <a:pt x="837" y="21376"/>
                  <a:pt x="2207" y="21461"/>
                  <a:pt x="3206" y="21305"/>
                </a:cubicBezTo>
                <a:cubicBezTo>
                  <a:pt x="4371" y="21128"/>
                  <a:pt x="5857" y="21247"/>
                  <a:pt x="7008" y="21188"/>
                </a:cubicBezTo>
                <a:cubicBezTo>
                  <a:pt x="7355" y="21171"/>
                  <a:pt x="7398" y="20692"/>
                  <a:pt x="7259" y="20471"/>
                </a:cubicBezTo>
                <a:cubicBezTo>
                  <a:pt x="7218" y="20407"/>
                  <a:pt x="7134" y="20375"/>
                  <a:pt x="7134" y="20375"/>
                </a:cubicBezTo>
                <a:lnTo>
                  <a:pt x="7190" y="20412"/>
                </a:lnTo>
                <a:cubicBezTo>
                  <a:pt x="7773" y="20434"/>
                  <a:pt x="8367" y="17905"/>
                  <a:pt x="8742" y="15860"/>
                </a:cubicBezTo>
                <a:cubicBezTo>
                  <a:pt x="8908" y="14999"/>
                  <a:pt x="10033" y="13116"/>
                  <a:pt x="10394" y="12497"/>
                </a:cubicBezTo>
                <a:cubicBezTo>
                  <a:pt x="10421" y="12443"/>
                  <a:pt x="10630" y="12443"/>
                  <a:pt x="10658" y="12497"/>
                </a:cubicBezTo>
                <a:cubicBezTo>
                  <a:pt x="10880" y="12987"/>
                  <a:pt x="11168" y="14031"/>
                  <a:pt x="11473" y="14757"/>
                </a:cubicBezTo>
                <a:cubicBezTo>
                  <a:pt x="11542" y="14924"/>
                  <a:pt x="11753" y="15564"/>
                  <a:pt x="11781" y="15968"/>
                </a:cubicBezTo>
                <a:cubicBezTo>
                  <a:pt x="11892" y="17206"/>
                  <a:pt x="11572" y="19842"/>
                  <a:pt x="12002" y="20175"/>
                </a:cubicBezTo>
                <a:cubicBezTo>
                  <a:pt x="12002" y="20175"/>
                  <a:pt x="11906" y="20682"/>
                  <a:pt x="11490" y="21053"/>
                </a:cubicBezTo>
                <a:cubicBezTo>
                  <a:pt x="10908" y="21575"/>
                  <a:pt x="13763" y="21580"/>
                  <a:pt x="14568" y="21381"/>
                </a:cubicBezTo>
                <a:cubicBezTo>
                  <a:pt x="15608" y="21128"/>
                  <a:pt x="14986" y="20682"/>
                  <a:pt x="15028" y="20488"/>
                </a:cubicBezTo>
                <a:cubicBezTo>
                  <a:pt x="15125" y="20316"/>
                  <a:pt x="15333" y="20316"/>
                  <a:pt x="15444" y="19950"/>
                </a:cubicBezTo>
                <a:cubicBezTo>
                  <a:pt x="15763" y="18841"/>
                  <a:pt x="15485" y="17442"/>
                  <a:pt x="15513" y="16318"/>
                </a:cubicBezTo>
                <a:cubicBezTo>
                  <a:pt x="15527" y="15946"/>
                  <a:pt x="15886" y="15230"/>
                  <a:pt x="15886" y="14229"/>
                </a:cubicBezTo>
                <a:cubicBezTo>
                  <a:pt x="15886" y="13223"/>
                  <a:pt x="15888" y="12330"/>
                  <a:pt x="15721" y="11431"/>
                </a:cubicBezTo>
                <a:cubicBezTo>
                  <a:pt x="15610" y="10839"/>
                  <a:pt x="16110" y="10802"/>
                  <a:pt x="15652" y="10044"/>
                </a:cubicBezTo>
                <a:cubicBezTo>
                  <a:pt x="17247" y="10108"/>
                  <a:pt x="17453" y="10054"/>
                  <a:pt x="17967" y="9801"/>
                </a:cubicBezTo>
                <a:cubicBezTo>
                  <a:pt x="19312" y="9123"/>
                  <a:pt x="20798" y="7585"/>
                  <a:pt x="21062" y="7321"/>
                </a:cubicBezTo>
                <a:cubicBezTo>
                  <a:pt x="21575" y="7278"/>
                  <a:pt x="21546" y="6846"/>
                  <a:pt x="21296" y="6534"/>
                </a:cubicBezTo>
                <a:cubicBezTo>
                  <a:pt x="21226" y="6453"/>
                  <a:pt x="20909" y="6465"/>
                  <a:pt x="20854" y="6384"/>
                </a:cubicBezTo>
                <a:cubicBezTo>
                  <a:pt x="20424" y="5755"/>
                  <a:pt x="17691" y="4302"/>
                  <a:pt x="17247" y="3990"/>
                </a:cubicBezTo>
                <a:cubicBezTo>
                  <a:pt x="16859" y="3715"/>
                  <a:pt x="14264" y="3516"/>
                  <a:pt x="13376" y="3381"/>
                </a:cubicBezTo>
                <a:cubicBezTo>
                  <a:pt x="13237" y="3360"/>
                  <a:pt x="13085" y="3300"/>
                  <a:pt x="13029" y="3247"/>
                </a:cubicBezTo>
                <a:cubicBezTo>
                  <a:pt x="13001" y="3225"/>
                  <a:pt x="12988" y="3204"/>
                  <a:pt x="12960" y="3183"/>
                </a:cubicBezTo>
                <a:cubicBezTo>
                  <a:pt x="12724" y="2984"/>
                  <a:pt x="12392" y="2989"/>
                  <a:pt x="12392" y="2989"/>
                </a:cubicBezTo>
                <a:cubicBezTo>
                  <a:pt x="12350" y="2839"/>
                  <a:pt x="12319" y="2714"/>
                  <a:pt x="12444" y="2628"/>
                </a:cubicBezTo>
                <a:cubicBezTo>
                  <a:pt x="12610" y="2504"/>
                  <a:pt x="12750" y="2364"/>
                  <a:pt x="12847" y="2219"/>
                </a:cubicBezTo>
                <a:cubicBezTo>
                  <a:pt x="13041" y="2203"/>
                  <a:pt x="13196" y="2213"/>
                  <a:pt x="13376" y="1933"/>
                </a:cubicBezTo>
                <a:cubicBezTo>
                  <a:pt x="13445" y="1810"/>
                  <a:pt x="13748" y="1482"/>
                  <a:pt x="13276" y="1471"/>
                </a:cubicBezTo>
                <a:cubicBezTo>
                  <a:pt x="13373" y="1245"/>
                  <a:pt x="13679" y="444"/>
                  <a:pt x="12500" y="272"/>
                </a:cubicBezTo>
                <a:cubicBezTo>
                  <a:pt x="12154" y="223"/>
                  <a:pt x="12141" y="153"/>
                  <a:pt x="11989" y="126"/>
                </a:cubicBezTo>
                <a:cubicBezTo>
                  <a:pt x="11434" y="23"/>
                  <a:pt x="10841" y="-20"/>
                  <a:pt x="10246" y="10"/>
                </a:cubicBezTo>
                <a:close/>
                <a:moveTo>
                  <a:pt x="16042" y="6038"/>
                </a:moveTo>
                <a:cubicBezTo>
                  <a:pt x="16175" y="6060"/>
                  <a:pt x="16316" y="6123"/>
                  <a:pt x="16371" y="6147"/>
                </a:cubicBezTo>
                <a:cubicBezTo>
                  <a:pt x="17342" y="6567"/>
                  <a:pt x="18104" y="6825"/>
                  <a:pt x="18201" y="6955"/>
                </a:cubicBezTo>
                <a:cubicBezTo>
                  <a:pt x="18270" y="7186"/>
                  <a:pt x="18326" y="7449"/>
                  <a:pt x="18326" y="7449"/>
                </a:cubicBezTo>
                <a:cubicBezTo>
                  <a:pt x="18326" y="7449"/>
                  <a:pt x="17454" y="9005"/>
                  <a:pt x="17052" y="9124"/>
                </a:cubicBezTo>
                <a:cubicBezTo>
                  <a:pt x="16802" y="9205"/>
                  <a:pt x="15790" y="8946"/>
                  <a:pt x="15236" y="8972"/>
                </a:cubicBezTo>
                <a:cubicBezTo>
                  <a:pt x="15236" y="8703"/>
                  <a:pt x="15249" y="8450"/>
                  <a:pt x="15305" y="7950"/>
                </a:cubicBezTo>
                <a:cubicBezTo>
                  <a:pt x="15374" y="7347"/>
                  <a:pt x="15692" y="6443"/>
                  <a:pt x="15747" y="6174"/>
                </a:cubicBezTo>
                <a:cubicBezTo>
                  <a:pt x="15782" y="6034"/>
                  <a:pt x="15908" y="6016"/>
                  <a:pt x="16042" y="6038"/>
                </a:cubicBezTo>
                <a:close/>
                <a:moveTo>
                  <a:pt x="5001" y="6053"/>
                </a:moveTo>
                <a:cubicBezTo>
                  <a:pt x="5137" y="6043"/>
                  <a:pt x="5286" y="6074"/>
                  <a:pt x="5317" y="6131"/>
                </a:cubicBezTo>
                <a:cubicBezTo>
                  <a:pt x="5456" y="6389"/>
                  <a:pt x="5454" y="6740"/>
                  <a:pt x="5551" y="7133"/>
                </a:cubicBezTo>
                <a:cubicBezTo>
                  <a:pt x="5704" y="7752"/>
                  <a:pt x="5968" y="8369"/>
                  <a:pt x="5898" y="8735"/>
                </a:cubicBezTo>
                <a:cubicBezTo>
                  <a:pt x="5870" y="8918"/>
                  <a:pt x="5912" y="9091"/>
                  <a:pt x="5898" y="9107"/>
                </a:cubicBezTo>
                <a:cubicBezTo>
                  <a:pt x="5898" y="9107"/>
                  <a:pt x="5413" y="9295"/>
                  <a:pt x="5205" y="9322"/>
                </a:cubicBezTo>
                <a:cubicBezTo>
                  <a:pt x="4899" y="9355"/>
                  <a:pt x="4593" y="9462"/>
                  <a:pt x="4537" y="9430"/>
                </a:cubicBezTo>
                <a:cubicBezTo>
                  <a:pt x="4149" y="9150"/>
                  <a:pt x="3152" y="7622"/>
                  <a:pt x="3042" y="7385"/>
                </a:cubicBezTo>
                <a:cubicBezTo>
                  <a:pt x="3097" y="7251"/>
                  <a:pt x="3139" y="7062"/>
                  <a:pt x="3167" y="6965"/>
                </a:cubicBezTo>
                <a:cubicBezTo>
                  <a:pt x="3181" y="6922"/>
                  <a:pt x="3206" y="6884"/>
                  <a:pt x="3276" y="6852"/>
                </a:cubicBezTo>
                <a:cubicBezTo>
                  <a:pt x="3539" y="6701"/>
                  <a:pt x="4330" y="6260"/>
                  <a:pt x="4871" y="6077"/>
                </a:cubicBezTo>
                <a:cubicBezTo>
                  <a:pt x="4909" y="6063"/>
                  <a:pt x="4955" y="6057"/>
                  <a:pt x="5001" y="6053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76" name="Kaffe"/>
          <p:cNvSpPr txBox="1"/>
          <p:nvPr/>
        </p:nvSpPr>
        <p:spPr>
          <a:xfrm>
            <a:off x="8051085" y="4675994"/>
            <a:ext cx="878130" cy="46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rPr err="1"/>
              <a:t>Kaffe</a:t>
            </a:r>
            <a:endParaRPr/>
          </a:p>
        </p:txBody>
      </p:sp>
      <p:sp>
        <p:nvSpPr>
          <p:cNvPr id="177" name="Man"/>
          <p:cNvSpPr/>
          <p:nvPr/>
        </p:nvSpPr>
        <p:spPr>
          <a:xfrm>
            <a:off x="5109312" y="6149023"/>
            <a:ext cx="1612789" cy="41636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0" h="21502" extrusionOk="0">
                <a:moveTo>
                  <a:pt x="10246" y="10"/>
                </a:moveTo>
                <a:cubicBezTo>
                  <a:pt x="9651" y="39"/>
                  <a:pt x="9052" y="142"/>
                  <a:pt x="8490" y="331"/>
                </a:cubicBezTo>
                <a:cubicBezTo>
                  <a:pt x="7409" y="697"/>
                  <a:pt x="7827" y="1471"/>
                  <a:pt x="7827" y="1471"/>
                </a:cubicBezTo>
                <a:cubicBezTo>
                  <a:pt x="7827" y="1471"/>
                  <a:pt x="7467" y="1472"/>
                  <a:pt x="7689" y="1837"/>
                </a:cubicBezTo>
                <a:cubicBezTo>
                  <a:pt x="7827" y="2069"/>
                  <a:pt x="7730" y="2122"/>
                  <a:pt x="8174" y="2197"/>
                </a:cubicBezTo>
                <a:cubicBezTo>
                  <a:pt x="8285" y="2477"/>
                  <a:pt x="8629" y="2493"/>
                  <a:pt x="8629" y="2983"/>
                </a:cubicBezTo>
                <a:cubicBezTo>
                  <a:pt x="8629" y="2988"/>
                  <a:pt x="8355" y="2978"/>
                  <a:pt x="8161" y="3134"/>
                </a:cubicBezTo>
                <a:cubicBezTo>
                  <a:pt x="8106" y="3177"/>
                  <a:pt x="8049" y="3322"/>
                  <a:pt x="7827" y="3359"/>
                </a:cubicBezTo>
                <a:cubicBezTo>
                  <a:pt x="6842" y="3542"/>
                  <a:pt x="4636" y="3731"/>
                  <a:pt x="4095" y="3941"/>
                </a:cubicBezTo>
                <a:cubicBezTo>
                  <a:pt x="3332" y="4237"/>
                  <a:pt x="185" y="6557"/>
                  <a:pt x="185" y="6783"/>
                </a:cubicBezTo>
                <a:cubicBezTo>
                  <a:pt x="185" y="7133"/>
                  <a:pt x="112" y="7369"/>
                  <a:pt x="306" y="7546"/>
                </a:cubicBezTo>
                <a:cubicBezTo>
                  <a:pt x="1138" y="8300"/>
                  <a:pt x="2140" y="9548"/>
                  <a:pt x="3388" y="10139"/>
                </a:cubicBezTo>
                <a:cubicBezTo>
                  <a:pt x="3555" y="10220"/>
                  <a:pt x="3874" y="10313"/>
                  <a:pt x="4290" y="10366"/>
                </a:cubicBezTo>
                <a:cubicBezTo>
                  <a:pt x="4706" y="10420"/>
                  <a:pt x="5414" y="10539"/>
                  <a:pt x="5400" y="10636"/>
                </a:cubicBezTo>
                <a:cubicBezTo>
                  <a:pt x="5261" y="11507"/>
                  <a:pt x="4984" y="13595"/>
                  <a:pt x="4775" y="14591"/>
                </a:cubicBezTo>
                <a:cubicBezTo>
                  <a:pt x="4637" y="15242"/>
                  <a:pt x="4526" y="15984"/>
                  <a:pt x="4429" y="16447"/>
                </a:cubicBezTo>
                <a:cubicBezTo>
                  <a:pt x="4262" y="17244"/>
                  <a:pt x="4221" y="18180"/>
                  <a:pt x="3666" y="19165"/>
                </a:cubicBezTo>
                <a:cubicBezTo>
                  <a:pt x="3416" y="19617"/>
                  <a:pt x="2972" y="20214"/>
                  <a:pt x="3250" y="20214"/>
                </a:cubicBezTo>
                <a:cubicBezTo>
                  <a:pt x="2833" y="20612"/>
                  <a:pt x="1236" y="20827"/>
                  <a:pt x="432" y="20913"/>
                </a:cubicBezTo>
                <a:cubicBezTo>
                  <a:pt x="154" y="20940"/>
                  <a:pt x="-25" y="21043"/>
                  <a:pt x="3" y="21156"/>
                </a:cubicBezTo>
                <a:lnTo>
                  <a:pt x="29" y="21225"/>
                </a:lnTo>
                <a:cubicBezTo>
                  <a:pt x="43" y="21311"/>
                  <a:pt x="324" y="21344"/>
                  <a:pt x="393" y="21344"/>
                </a:cubicBezTo>
                <a:cubicBezTo>
                  <a:pt x="837" y="21376"/>
                  <a:pt x="2207" y="21461"/>
                  <a:pt x="3206" y="21305"/>
                </a:cubicBezTo>
                <a:cubicBezTo>
                  <a:pt x="4371" y="21128"/>
                  <a:pt x="5857" y="21247"/>
                  <a:pt x="7008" y="21188"/>
                </a:cubicBezTo>
                <a:cubicBezTo>
                  <a:pt x="7355" y="21171"/>
                  <a:pt x="7398" y="20692"/>
                  <a:pt x="7259" y="20471"/>
                </a:cubicBezTo>
                <a:cubicBezTo>
                  <a:pt x="7218" y="20407"/>
                  <a:pt x="7134" y="20375"/>
                  <a:pt x="7134" y="20375"/>
                </a:cubicBezTo>
                <a:lnTo>
                  <a:pt x="7190" y="20412"/>
                </a:lnTo>
                <a:cubicBezTo>
                  <a:pt x="7773" y="20434"/>
                  <a:pt x="8367" y="17905"/>
                  <a:pt x="8742" y="15860"/>
                </a:cubicBezTo>
                <a:cubicBezTo>
                  <a:pt x="8908" y="14999"/>
                  <a:pt x="10033" y="13116"/>
                  <a:pt x="10394" y="12497"/>
                </a:cubicBezTo>
                <a:cubicBezTo>
                  <a:pt x="10421" y="12443"/>
                  <a:pt x="10630" y="12443"/>
                  <a:pt x="10658" y="12497"/>
                </a:cubicBezTo>
                <a:cubicBezTo>
                  <a:pt x="10880" y="12987"/>
                  <a:pt x="11168" y="14031"/>
                  <a:pt x="11473" y="14757"/>
                </a:cubicBezTo>
                <a:cubicBezTo>
                  <a:pt x="11542" y="14924"/>
                  <a:pt x="11753" y="15564"/>
                  <a:pt x="11781" y="15968"/>
                </a:cubicBezTo>
                <a:cubicBezTo>
                  <a:pt x="11892" y="17206"/>
                  <a:pt x="11572" y="19842"/>
                  <a:pt x="12002" y="20175"/>
                </a:cubicBezTo>
                <a:cubicBezTo>
                  <a:pt x="12002" y="20175"/>
                  <a:pt x="11906" y="20682"/>
                  <a:pt x="11490" y="21053"/>
                </a:cubicBezTo>
                <a:cubicBezTo>
                  <a:pt x="10908" y="21575"/>
                  <a:pt x="13763" y="21580"/>
                  <a:pt x="14568" y="21381"/>
                </a:cubicBezTo>
                <a:cubicBezTo>
                  <a:pt x="15608" y="21128"/>
                  <a:pt x="14986" y="20682"/>
                  <a:pt x="15028" y="20488"/>
                </a:cubicBezTo>
                <a:cubicBezTo>
                  <a:pt x="15125" y="20316"/>
                  <a:pt x="15333" y="20316"/>
                  <a:pt x="15444" y="19950"/>
                </a:cubicBezTo>
                <a:cubicBezTo>
                  <a:pt x="15763" y="18841"/>
                  <a:pt x="15485" y="17442"/>
                  <a:pt x="15513" y="16318"/>
                </a:cubicBezTo>
                <a:cubicBezTo>
                  <a:pt x="15527" y="15946"/>
                  <a:pt x="15886" y="15230"/>
                  <a:pt x="15886" y="14229"/>
                </a:cubicBezTo>
                <a:cubicBezTo>
                  <a:pt x="15886" y="13223"/>
                  <a:pt x="15888" y="12330"/>
                  <a:pt x="15721" y="11431"/>
                </a:cubicBezTo>
                <a:cubicBezTo>
                  <a:pt x="15610" y="10839"/>
                  <a:pt x="16110" y="10802"/>
                  <a:pt x="15652" y="10044"/>
                </a:cubicBezTo>
                <a:cubicBezTo>
                  <a:pt x="17247" y="10108"/>
                  <a:pt x="17453" y="10054"/>
                  <a:pt x="17967" y="9801"/>
                </a:cubicBezTo>
                <a:cubicBezTo>
                  <a:pt x="19312" y="9123"/>
                  <a:pt x="20798" y="7585"/>
                  <a:pt x="21062" y="7321"/>
                </a:cubicBezTo>
                <a:cubicBezTo>
                  <a:pt x="21575" y="7278"/>
                  <a:pt x="21546" y="6846"/>
                  <a:pt x="21296" y="6534"/>
                </a:cubicBezTo>
                <a:cubicBezTo>
                  <a:pt x="21226" y="6453"/>
                  <a:pt x="20909" y="6465"/>
                  <a:pt x="20854" y="6384"/>
                </a:cubicBezTo>
                <a:cubicBezTo>
                  <a:pt x="20424" y="5755"/>
                  <a:pt x="17691" y="4302"/>
                  <a:pt x="17247" y="3990"/>
                </a:cubicBezTo>
                <a:cubicBezTo>
                  <a:pt x="16859" y="3715"/>
                  <a:pt x="14264" y="3516"/>
                  <a:pt x="13376" y="3381"/>
                </a:cubicBezTo>
                <a:cubicBezTo>
                  <a:pt x="13237" y="3360"/>
                  <a:pt x="13085" y="3300"/>
                  <a:pt x="13029" y="3247"/>
                </a:cubicBezTo>
                <a:cubicBezTo>
                  <a:pt x="13001" y="3225"/>
                  <a:pt x="12988" y="3204"/>
                  <a:pt x="12960" y="3183"/>
                </a:cubicBezTo>
                <a:cubicBezTo>
                  <a:pt x="12724" y="2984"/>
                  <a:pt x="12392" y="2989"/>
                  <a:pt x="12392" y="2989"/>
                </a:cubicBezTo>
                <a:cubicBezTo>
                  <a:pt x="12350" y="2839"/>
                  <a:pt x="12319" y="2714"/>
                  <a:pt x="12444" y="2628"/>
                </a:cubicBezTo>
                <a:cubicBezTo>
                  <a:pt x="12610" y="2504"/>
                  <a:pt x="12750" y="2364"/>
                  <a:pt x="12847" y="2219"/>
                </a:cubicBezTo>
                <a:cubicBezTo>
                  <a:pt x="13041" y="2203"/>
                  <a:pt x="13196" y="2213"/>
                  <a:pt x="13376" y="1933"/>
                </a:cubicBezTo>
                <a:cubicBezTo>
                  <a:pt x="13445" y="1810"/>
                  <a:pt x="13748" y="1482"/>
                  <a:pt x="13276" y="1471"/>
                </a:cubicBezTo>
                <a:cubicBezTo>
                  <a:pt x="13373" y="1245"/>
                  <a:pt x="13679" y="444"/>
                  <a:pt x="12500" y="272"/>
                </a:cubicBezTo>
                <a:cubicBezTo>
                  <a:pt x="12154" y="223"/>
                  <a:pt x="12141" y="153"/>
                  <a:pt x="11989" y="126"/>
                </a:cubicBezTo>
                <a:cubicBezTo>
                  <a:pt x="11434" y="23"/>
                  <a:pt x="10841" y="-20"/>
                  <a:pt x="10246" y="10"/>
                </a:cubicBezTo>
                <a:close/>
                <a:moveTo>
                  <a:pt x="16042" y="6038"/>
                </a:moveTo>
                <a:cubicBezTo>
                  <a:pt x="16175" y="6060"/>
                  <a:pt x="16316" y="6123"/>
                  <a:pt x="16371" y="6147"/>
                </a:cubicBezTo>
                <a:cubicBezTo>
                  <a:pt x="17342" y="6567"/>
                  <a:pt x="18104" y="6825"/>
                  <a:pt x="18201" y="6955"/>
                </a:cubicBezTo>
                <a:cubicBezTo>
                  <a:pt x="18270" y="7186"/>
                  <a:pt x="18326" y="7449"/>
                  <a:pt x="18326" y="7449"/>
                </a:cubicBezTo>
                <a:cubicBezTo>
                  <a:pt x="18326" y="7449"/>
                  <a:pt x="17454" y="9005"/>
                  <a:pt x="17052" y="9124"/>
                </a:cubicBezTo>
                <a:cubicBezTo>
                  <a:pt x="16802" y="9205"/>
                  <a:pt x="15790" y="8946"/>
                  <a:pt x="15236" y="8972"/>
                </a:cubicBezTo>
                <a:cubicBezTo>
                  <a:pt x="15236" y="8703"/>
                  <a:pt x="15249" y="8450"/>
                  <a:pt x="15305" y="7950"/>
                </a:cubicBezTo>
                <a:cubicBezTo>
                  <a:pt x="15374" y="7347"/>
                  <a:pt x="15692" y="6443"/>
                  <a:pt x="15747" y="6174"/>
                </a:cubicBezTo>
                <a:cubicBezTo>
                  <a:pt x="15782" y="6034"/>
                  <a:pt x="15908" y="6016"/>
                  <a:pt x="16042" y="6038"/>
                </a:cubicBezTo>
                <a:close/>
                <a:moveTo>
                  <a:pt x="5001" y="6053"/>
                </a:moveTo>
                <a:cubicBezTo>
                  <a:pt x="5137" y="6043"/>
                  <a:pt x="5286" y="6074"/>
                  <a:pt x="5317" y="6131"/>
                </a:cubicBezTo>
                <a:cubicBezTo>
                  <a:pt x="5456" y="6389"/>
                  <a:pt x="5454" y="6740"/>
                  <a:pt x="5551" y="7133"/>
                </a:cubicBezTo>
                <a:cubicBezTo>
                  <a:pt x="5704" y="7752"/>
                  <a:pt x="5968" y="8369"/>
                  <a:pt x="5898" y="8735"/>
                </a:cubicBezTo>
                <a:cubicBezTo>
                  <a:pt x="5870" y="8918"/>
                  <a:pt x="5912" y="9091"/>
                  <a:pt x="5898" y="9107"/>
                </a:cubicBezTo>
                <a:cubicBezTo>
                  <a:pt x="5898" y="9107"/>
                  <a:pt x="5413" y="9295"/>
                  <a:pt x="5205" y="9322"/>
                </a:cubicBezTo>
                <a:cubicBezTo>
                  <a:pt x="4899" y="9355"/>
                  <a:pt x="4593" y="9462"/>
                  <a:pt x="4537" y="9430"/>
                </a:cubicBezTo>
                <a:cubicBezTo>
                  <a:pt x="4149" y="9150"/>
                  <a:pt x="3152" y="7622"/>
                  <a:pt x="3042" y="7385"/>
                </a:cubicBezTo>
                <a:cubicBezTo>
                  <a:pt x="3097" y="7251"/>
                  <a:pt x="3139" y="7062"/>
                  <a:pt x="3167" y="6965"/>
                </a:cubicBezTo>
                <a:cubicBezTo>
                  <a:pt x="3181" y="6922"/>
                  <a:pt x="3206" y="6884"/>
                  <a:pt x="3276" y="6852"/>
                </a:cubicBezTo>
                <a:cubicBezTo>
                  <a:pt x="3539" y="6701"/>
                  <a:pt x="4330" y="6260"/>
                  <a:pt x="4871" y="6077"/>
                </a:cubicBezTo>
                <a:cubicBezTo>
                  <a:pt x="4909" y="6063"/>
                  <a:pt x="4955" y="6057"/>
                  <a:pt x="5001" y="6053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78" name="Te"/>
          <p:cNvSpPr txBox="1"/>
          <p:nvPr/>
        </p:nvSpPr>
        <p:spPr>
          <a:xfrm>
            <a:off x="4740708" y="5210447"/>
            <a:ext cx="102656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endParaRPr/>
          </a:p>
        </p:txBody>
      </p:sp>
      <p:sp>
        <p:nvSpPr>
          <p:cNvPr id="179" name="Høyde"/>
          <p:cNvSpPr txBox="1"/>
          <p:nvPr/>
        </p:nvSpPr>
        <p:spPr>
          <a:xfrm>
            <a:off x="6424893" y="12395377"/>
            <a:ext cx="1045769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t>Høyde</a:t>
            </a:r>
          </a:p>
        </p:txBody>
      </p:sp>
      <p:sp>
        <p:nvSpPr>
          <p:cNvPr id="180" name="Antall…"/>
          <p:cNvSpPr txBox="1"/>
          <p:nvPr/>
        </p:nvSpPr>
        <p:spPr>
          <a:xfrm>
            <a:off x="430036" y="6443320"/>
            <a:ext cx="1028092" cy="82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/>
            </a:pPr>
            <a:r>
              <a:t>Antall </a:t>
            </a:r>
          </a:p>
          <a:p>
            <a:pPr>
              <a:defRPr b="1"/>
            </a:pPr>
            <a:r>
              <a:t>språk</a:t>
            </a:r>
          </a:p>
        </p:txBody>
      </p:sp>
      <p:sp>
        <p:nvSpPr>
          <p:cNvPr id="181" name="Hva betyr det at to personer står nær hverandre i dette rommet?…"/>
          <p:cNvSpPr txBox="1"/>
          <p:nvPr/>
        </p:nvSpPr>
        <p:spPr>
          <a:xfrm>
            <a:off x="14315016" y="5234215"/>
            <a:ext cx="9488059" cy="2632216"/>
          </a:xfrm>
          <a:prstGeom prst="rect">
            <a:avLst/>
          </a:prstGeom>
          <a:ln w="25400">
            <a:solidFill>
              <a:srgbClr val="E1325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390143" indent="-390143" algn="l" defTabSz="1560536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z="3072">
                <a:solidFill>
                  <a:srgbClr val="000000"/>
                </a:solidFill>
              </a:defRPr>
            </a:pPr>
            <a:r>
              <a:rPr err="1"/>
              <a:t>Hva</a:t>
            </a:r>
            <a:r>
              <a:t> </a:t>
            </a:r>
            <a:r>
              <a:rPr err="1"/>
              <a:t>betyr</a:t>
            </a:r>
            <a:r>
              <a:t> det </a:t>
            </a:r>
            <a:r>
              <a:rPr lang="nb-NO"/>
              <a:t>når</a:t>
            </a:r>
            <a:r>
              <a:t> to </a:t>
            </a:r>
            <a:r>
              <a:rPr err="1"/>
              <a:t>personer</a:t>
            </a:r>
            <a:r>
              <a:t> </a:t>
            </a:r>
            <a:r>
              <a:rPr err="1"/>
              <a:t>står</a:t>
            </a:r>
            <a:r>
              <a:t> </a:t>
            </a:r>
            <a:r>
              <a:rPr err="1"/>
              <a:t>nær</a:t>
            </a:r>
            <a:r>
              <a:t> </a:t>
            </a:r>
            <a:r>
              <a:rPr err="1"/>
              <a:t>hverandre</a:t>
            </a:r>
            <a:r>
              <a:t> </a:t>
            </a:r>
            <a:r>
              <a:rPr err="1"/>
              <a:t>i</a:t>
            </a:r>
            <a:r>
              <a:t> </a:t>
            </a:r>
            <a:r>
              <a:rPr err="1"/>
              <a:t>dette</a:t>
            </a:r>
            <a:r>
              <a:t> </a:t>
            </a:r>
            <a:r>
              <a:rPr err="1"/>
              <a:t>rommet</a:t>
            </a:r>
            <a:r>
              <a:t>?</a:t>
            </a:r>
          </a:p>
          <a:p>
            <a:pPr marL="390143" indent="-390143" algn="l" defTabSz="1560536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z="3072">
                <a:solidFill>
                  <a:srgbClr val="000000"/>
                </a:solidFill>
              </a:defRPr>
            </a:pPr>
            <a:r>
              <a:rPr err="1"/>
              <a:t>Hvilke</a:t>
            </a:r>
            <a:r>
              <a:t> </a:t>
            </a:r>
            <a:r>
              <a:rPr err="1"/>
              <a:t>trekk</a:t>
            </a:r>
            <a:r>
              <a:t> </a:t>
            </a:r>
            <a:r>
              <a:rPr err="1"/>
              <a:t>forklarer</a:t>
            </a:r>
            <a:r>
              <a:t> </a:t>
            </a:r>
            <a:r>
              <a:rPr err="1"/>
              <a:t>avstanden</a:t>
            </a:r>
            <a:r>
              <a:t>?</a:t>
            </a:r>
          </a:p>
          <a:p>
            <a:pPr marL="390143" indent="-390143" algn="l" defTabSz="1560536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z="3072">
                <a:solidFill>
                  <a:srgbClr val="000000"/>
                </a:solidFill>
              </a:defRPr>
            </a:pPr>
            <a:r>
              <a:rPr err="1"/>
              <a:t>Hvordan</a:t>
            </a:r>
            <a:r>
              <a:t> </a:t>
            </a:r>
            <a:r>
              <a:rPr err="1"/>
              <a:t>kan</a:t>
            </a:r>
            <a:r>
              <a:t> vi </a:t>
            </a:r>
            <a:r>
              <a:rPr err="1"/>
              <a:t>tolke</a:t>
            </a:r>
            <a:r>
              <a:t> </a:t>
            </a:r>
            <a:r>
              <a:rPr err="1"/>
              <a:t>rommet</a:t>
            </a:r>
            <a:r>
              <a:t>?</a:t>
            </a:r>
          </a:p>
        </p:txBody>
      </p:sp>
      <p:sp>
        <p:nvSpPr>
          <p:cNvPr id="2" name="Te">
            <a:extLst>
              <a:ext uri="{FF2B5EF4-FFF2-40B4-BE49-F238E27FC236}">
                <a16:creationId xmlns:a16="http://schemas.microsoft.com/office/drawing/2014/main" id="{D34073B0-25A4-20E3-3CDD-EBF516C987F6}"/>
              </a:ext>
            </a:extLst>
          </p:cNvPr>
          <p:cNvSpPr txBox="1"/>
          <p:nvPr/>
        </p:nvSpPr>
        <p:spPr>
          <a:xfrm>
            <a:off x="4667655" y="6212790"/>
            <a:ext cx="441657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rPr lang="en-GB"/>
              <a:t>T</a:t>
            </a:r>
            <a:r>
              <a:t>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Å måle likhet mellom vektor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Å måle likhet mellom vektorer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Equation"/>
              <p:cNvSpPr txBox="1"/>
              <p:nvPr/>
            </p:nvSpPr>
            <p:spPr>
              <a:xfrm>
                <a:off x="1305167" y="4429215"/>
                <a:ext cx="9698536" cy="212768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47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sz="47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7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47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7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47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47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47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7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sub>
                              <m:r>
                                <a:rPr sz="47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sz="47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7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sz="47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sz="47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7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sz="47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sz="47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</m:e>
                                <m:sub>
                                  <m: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  <m:rad>
                            <m:radPr>
                              <m:degHide m:val="on"/>
                              <m:ctrlPr>
                                <a:rPr sz="47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</m:e>
                                <m:sub>
                                  <m: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sz="47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sz="47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47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7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47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sz="47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sz="47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sz="47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47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∥∥</m:t>
                          </m:r>
                          <m:r>
                            <a:rPr sz="47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sz="47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den>
                      </m:f>
                    </m:oMath>
                  </m:oMathPara>
                </a14:m>
                <a:endParaRPr sz="4700">
                  <a:solidFill>
                    <a:srgbClr val="5E5E5E"/>
                  </a:solidFill>
                </a:endParaRPr>
              </a:p>
            </p:txBody>
          </p:sp>
        </mc:Choice>
        <mc:Fallback>
          <p:sp>
            <p:nvSpPr>
              <p:cNvPr id="18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167" y="4429215"/>
                <a:ext cx="9698536" cy="2127687"/>
              </a:xfrm>
              <a:prstGeom prst="rect">
                <a:avLst/>
              </a:prstGeom>
              <a:blipFill>
                <a:blip r:embed="rId2"/>
                <a:stretch>
                  <a:fillRect b="-573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Equation"/>
              <p:cNvSpPr txBox="1"/>
              <p:nvPr/>
            </p:nvSpPr>
            <p:spPr>
              <a:xfrm>
                <a:off x="13491565" y="4615483"/>
                <a:ext cx="6665329" cy="206978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53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sz="53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53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53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53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53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sz="53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limUpp>
                            <m:limUppPr>
                              <m:ctrlPr>
                                <a:rPr sz="53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limLow>
                                <m:limLowPr>
                                  <m:ctrlPr>
                                    <a:rPr sz="53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sz="53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</m:e>
                                <m:lim>
                                  <m:r>
                                    <a:rPr sz="53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sz="5300" i="1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lim>
                              </m:limLow>
                            </m:e>
                            <m:lim>
                              <m:r>
                                <a:rPr sz="53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Upp>
                          <m:r>
                            <a:rPr sz="53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53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3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sz="53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sz="53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sz="53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3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sz="53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sz="53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53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sz="53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sz="5300">
                  <a:solidFill>
                    <a:srgbClr val="5E5E5E"/>
                  </a:solidFill>
                </a:endParaRPr>
              </a:p>
            </p:txBody>
          </p:sp>
        </mc:Choice>
        <mc:Fallback>
          <p:sp>
            <p:nvSpPr>
              <p:cNvPr id="18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1565" y="4615483"/>
                <a:ext cx="6665329" cy="2069783"/>
              </a:xfrm>
              <a:prstGeom prst="rect">
                <a:avLst/>
              </a:prstGeom>
              <a:blipFill>
                <a:blip r:embed="rId3"/>
                <a:stretch>
                  <a:fillRect r="-5576" b="-1529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Cosinus likhet"/>
          <p:cNvSpPr txBox="1"/>
          <p:nvPr/>
        </p:nvSpPr>
        <p:spPr>
          <a:xfrm>
            <a:off x="4109454" y="3085771"/>
            <a:ext cx="4514241" cy="53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/>
            </a:lvl1pPr>
          </a:lstStyle>
          <a:p>
            <a:r>
              <a:t>Cosinus likhet</a:t>
            </a:r>
          </a:p>
        </p:txBody>
      </p:sp>
      <p:sp>
        <p:nvSpPr>
          <p:cNvPr id="187" name="Euklidsk avstand"/>
          <p:cNvSpPr txBox="1"/>
          <p:nvPr/>
        </p:nvSpPr>
        <p:spPr>
          <a:xfrm>
            <a:off x="15787952" y="3085771"/>
            <a:ext cx="4514242" cy="53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/>
            </a:lvl1pPr>
          </a:lstStyle>
          <a:p>
            <a:r>
              <a:t>Euklidsk avstand</a:t>
            </a:r>
          </a:p>
        </p:txBody>
      </p:sp>
      <p:sp>
        <p:nvSpPr>
          <p:cNvPr id="188" name="Fordel de to formlene mellom deg og personen ved siden av deg.…"/>
          <p:cNvSpPr txBox="1"/>
          <p:nvPr/>
        </p:nvSpPr>
        <p:spPr>
          <a:xfrm>
            <a:off x="381524" y="8325913"/>
            <a:ext cx="12666162" cy="4826058"/>
          </a:xfrm>
          <a:prstGeom prst="rect">
            <a:avLst/>
          </a:prstGeom>
          <a:ln w="25400">
            <a:solidFill>
              <a:srgbClr val="E1325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pPr marL="645795" lvl="1" indent="-322580" algn="l" defTabSz="1292319">
              <a:lnSpc>
                <a:spcPct val="90000"/>
              </a:lnSpc>
              <a:spcBef>
                <a:spcPts val="2300"/>
              </a:spcBef>
              <a:buSzPct val="123000"/>
              <a:buChar char="•"/>
              <a:defRPr sz="2543">
                <a:solidFill>
                  <a:srgbClr val="000000"/>
                </a:solidFill>
              </a:defRPr>
            </a:pPr>
            <a:endParaRPr lang="nb-NO"/>
          </a:p>
          <a:p>
            <a:pPr marL="645795" lvl="1" indent="-322580" algn="l" defTabSz="1292319">
              <a:lnSpc>
                <a:spcPct val="90000"/>
              </a:lnSpc>
              <a:spcBef>
                <a:spcPts val="2300"/>
              </a:spcBef>
              <a:buSzPct val="123000"/>
              <a:buChar char="•"/>
              <a:defRPr sz="2543">
                <a:solidFill>
                  <a:srgbClr val="000000"/>
                </a:solidFill>
              </a:defRPr>
            </a:pPr>
            <a:r>
              <a:rPr sz="2500"/>
              <a:t>Fordel de to </a:t>
            </a:r>
            <a:r>
              <a:rPr sz="2500" err="1"/>
              <a:t>formlene</a:t>
            </a:r>
            <a:r>
              <a:rPr sz="2500"/>
              <a:t> </a:t>
            </a:r>
            <a:r>
              <a:rPr sz="2500" err="1"/>
              <a:t>mellom</a:t>
            </a:r>
            <a:r>
              <a:rPr sz="2500"/>
              <a:t> deg </a:t>
            </a:r>
            <a:r>
              <a:rPr sz="2500" err="1"/>
              <a:t>og</a:t>
            </a:r>
            <a:r>
              <a:rPr sz="2500"/>
              <a:t> </a:t>
            </a:r>
            <a:r>
              <a:rPr sz="2500" err="1"/>
              <a:t>personen</a:t>
            </a:r>
            <a:r>
              <a:rPr sz="2500"/>
              <a:t> </a:t>
            </a:r>
            <a:r>
              <a:rPr sz="2500" err="1"/>
              <a:t>ved</a:t>
            </a:r>
            <a:r>
              <a:rPr sz="2500"/>
              <a:t> </a:t>
            </a:r>
            <a:r>
              <a:rPr sz="2500" err="1"/>
              <a:t>siden</a:t>
            </a:r>
            <a:r>
              <a:rPr sz="2500"/>
              <a:t> av deg. </a:t>
            </a:r>
          </a:p>
          <a:p>
            <a:pPr marL="645795" lvl="1" indent="-322580" algn="l" defTabSz="1292319">
              <a:lnSpc>
                <a:spcPct val="90000"/>
              </a:lnSpc>
              <a:spcBef>
                <a:spcPts val="2300"/>
              </a:spcBef>
              <a:buSzPct val="123000"/>
              <a:buChar char="•"/>
              <a:defRPr sz="2543">
                <a:solidFill>
                  <a:srgbClr val="000000"/>
                </a:solidFill>
              </a:defRPr>
            </a:pPr>
            <a:r>
              <a:rPr sz="2500"/>
              <a:t>Jobb </a:t>
            </a:r>
            <a:r>
              <a:rPr sz="2500" err="1"/>
              <a:t>selvstendig</a:t>
            </a:r>
            <a:r>
              <a:rPr sz="2500"/>
              <a:t> med å </a:t>
            </a:r>
            <a:r>
              <a:rPr sz="2500" err="1"/>
              <a:t>svare</a:t>
            </a:r>
            <a:r>
              <a:rPr sz="2500"/>
              <a:t> </a:t>
            </a:r>
            <a:r>
              <a:rPr sz="2500" err="1"/>
              <a:t>på</a:t>
            </a:r>
            <a:r>
              <a:rPr sz="2500"/>
              <a:t> </a:t>
            </a:r>
            <a:r>
              <a:rPr sz="2500" err="1"/>
              <a:t>spørsmålene</a:t>
            </a:r>
            <a:r>
              <a:rPr sz="2500"/>
              <a:t>:</a:t>
            </a:r>
          </a:p>
          <a:p>
            <a:pPr marL="969010" lvl="2" indent="-322580" algn="l" defTabSz="1292319">
              <a:lnSpc>
                <a:spcPct val="90000"/>
              </a:lnSpc>
              <a:spcBef>
                <a:spcPts val="2300"/>
              </a:spcBef>
              <a:buSzPct val="123000"/>
              <a:buChar char="•"/>
              <a:defRPr sz="2543">
                <a:solidFill>
                  <a:srgbClr val="000000"/>
                </a:solidFill>
              </a:defRPr>
            </a:pPr>
            <a:r>
              <a:rPr sz="2500" err="1"/>
              <a:t>Hva</a:t>
            </a:r>
            <a:r>
              <a:rPr sz="2500"/>
              <a:t> </a:t>
            </a:r>
            <a:r>
              <a:rPr sz="2500" err="1"/>
              <a:t>betyr</a:t>
            </a:r>
            <a:r>
              <a:rPr sz="2500"/>
              <a:t> de </a:t>
            </a:r>
            <a:r>
              <a:rPr sz="2500" err="1"/>
              <a:t>ulike</a:t>
            </a:r>
            <a:r>
              <a:rPr sz="2500"/>
              <a:t> </a:t>
            </a:r>
            <a:r>
              <a:rPr sz="2500" err="1"/>
              <a:t>komponentene</a:t>
            </a:r>
            <a:r>
              <a:rPr sz="2500"/>
              <a:t> </a:t>
            </a:r>
            <a:r>
              <a:rPr sz="2500" err="1"/>
              <a:t>i</a:t>
            </a:r>
            <a:r>
              <a:rPr sz="2500"/>
              <a:t> </a:t>
            </a:r>
            <a:r>
              <a:rPr sz="2500" err="1"/>
              <a:t>formelen</a:t>
            </a:r>
            <a:r>
              <a:rPr sz="2500"/>
              <a:t>? </a:t>
            </a:r>
          </a:p>
          <a:p>
            <a:pPr marL="969010" lvl="2" indent="-322580" algn="l" defTabSz="1292319">
              <a:lnSpc>
                <a:spcPct val="90000"/>
              </a:lnSpc>
              <a:spcBef>
                <a:spcPts val="2300"/>
              </a:spcBef>
              <a:buSzPct val="123000"/>
              <a:buChar char="•"/>
              <a:defRPr sz="2543">
                <a:solidFill>
                  <a:srgbClr val="000000"/>
                </a:solidFill>
              </a:defRPr>
            </a:pPr>
            <a:r>
              <a:rPr sz="2500" err="1"/>
              <a:t>Forklar</a:t>
            </a:r>
            <a:r>
              <a:rPr sz="2500"/>
              <a:t> med </a:t>
            </a:r>
            <a:r>
              <a:rPr sz="2500" err="1"/>
              <a:t>ord</a:t>
            </a:r>
            <a:r>
              <a:rPr sz="2500"/>
              <a:t> </a:t>
            </a:r>
            <a:r>
              <a:rPr sz="2500" err="1"/>
              <a:t>hvordan</a:t>
            </a:r>
            <a:r>
              <a:rPr sz="2500"/>
              <a:t> den </a:t>
            </a:r>
            <a:r>
              <a:rPr sz="2500" err="1"/>
              <a:t>regnes</a:t>
            </a:r>
            <a:r>
              <a:rPr sz="2500"/>
              <a:t> </a:t>
            </a:r>
            <a:r>
              <a:rPr sz="2500" err="1"/>
              <a:t>ut</a:t>
            </a:r>
            <a:endParaRPr sz="2500"/>
          </a:p>
          <a:p>
            <a:pPr marL="969010" lvl="2" indent="-322580" algn="l" defTabSz="1292319">
              <a:lnSpc>
                <a:spcPct val="90000"/>
              </a:lnSpc>
              <a:spcBef>
                <a:spcPts val="2300"/>
              </a:spcBef>
              <a:buSzPct val="123000"/>
              <a:buChar char="•"/>
              <a:defRPr sz="2543">
                <a:solidFill>
                  <a:srgbClr val="000000"/>
                </a:solidFill>
              </a:defRPr>
            </a:pPr>
            <a:r>
              <a:rPr sz="2500"/>
              <a:t>Regn </a:t>
            </a:r>
            <a:r>
              <a:rPr sz="2500" err="1"/>
              <a:t>ut</a:t>
            </a:r>
            <a:r>
              <a:rPr sz="2500"/>
              <a:t> </a:t>
            </a:r>
            <a:r>
              <a:rPr sz="2500" err="1"/>
              <a:t>likheten</a:t>
            </a:r>
            <a:r>
              <a:rPr sz="2500"/>
              <a:t>/</a:t>
            </a:r>
            <a:r>
              <a:rPr sz="2500" err="1"/>
              <a:t>avstanden</a:t>
            </a:r>
            <a:r>
              <a:rPr sz="2500"/>
              <a:t> </a:t>
            </a:r>
            <a:r>
              <a:rPr sz="2500" err="1"/>
              <a:t>mellom</a:t>
            </a:r>
            <a:r>
              <a:rPr sz="2500"/>
              <a:t> </a:t>
            </a:r>
            <a:r>
              <a:rPr sz="2500" err="1"/>
              <a:t>personvektoren</a:t>
            </a:r>
            <a:r>
              <a:rPr sz="2500"/>
              <a:t> din </a:t>
            </a:r>
            <a:r>
              <a:rPr sz="2500" err="1"/>
              <a:t>og</a:t>
            </a:r>
            <a:r>
              <a:rPr sz="2500"/>
              <a:t> </a:t>
            </a:r>
            <a:r>
              <a:rPr sz="2500" err="1"/>
              <a:t>personvektoren</a:t>
            </a:r>
            <a:r>
              <a:rPr sz="2500"/>
              <a:t> </a:t>
            </a:r>
            <a:r>
              <a:rPr sz="2500" err="1"/>
              <a:t>til</a:t>
            </a:r>
            <a:r>
              <a:rPr sz="2500"/>
              <a:t> </a:t>
            </a:r>
            <a:r>
              <a:rPr sz="2500" err="1"/>
              <a:t>partneren</a:t>
            </a:r>
            <a:r>
              <a:rPr sz="2500"/>
              <a:t> din (bruk bare </a:t>
            </a:r>
            <a:r>
              <a:rPr sz="2500" err="1"/>
              <a:t>trekk</a:t>
            </a:r>
            <a:r>
              <a:rPr sz="2500"/>
              <a:t> for </a:t>
            </a:r>
            <a:r>
              <a:rPr sz="2500" err="1"/>
              <a:t>høyde</a:t>
            </a:r>
            <a:r>
              <a:rPr sz="2500"/>
              <a:t> </a:t>
            </a:r>
            <a:r>
              <a:rPr sz="2500" err="1"/>
              <a:t>og</a:t>
            </a:r>
            <a:r>
              <a:rPr sz="2500"/>
              <a:t> </a:t>
            </a:r>
            <a:r>
              <a:rPr sz="2500" err="1"/>
              <a:t>antall</a:t>
            </a:r>
            <a:r>
              <a:rPr sz="2500"/>
              <a:t> </a:t>
            </a:r>
            <a:r>
              <a:rPr sz="2500" err="1"/>
              <a:t>språk</a:t>
            </a:r>
            <a:r>
              <a:rPr sz="2500"/>
              <a:t>) </a:t>
            </a:r>
          </a:p>
          <a:p>
            <a:pPr marL="969010" lvl="2" indent="-322580" algn="l" defTabSz="1292319">
              <a:lnSpc>
                <a:spcPct val="90000"/>
              </a:lnSpc>
              <a:spcBef>
                <a:spcPts val="2300"/>
              </a:spcBef>
              <a:buSzPct val="123000"/>
              <a:buChar char="•"/>
              <a:defRPr sz="2543">
                <a:solidFill>
                  <a:srgbClr val="000000"/>
                </a:solidFill>
              </a:defRPr>
            </a:pPr>
            <a:r>
              <a:rPr sz="2500" err="1"/>
              <a:t>Plasser</a:t>
            </a:r>
            <a:r>
              <a:rPr sz="2500"/>
              <a:t> de to </a:t>
            </a:r>
            <a:r>
              <a:rPr sz="2500" err="1"/>
              <a:t>vektorene</a:t>
            </a:r>
            <a:r>
              <a:rPr sz="2500"/>
              <a:t> </a:t>
            </a:r>
            <a:r>
              <a:rPr lang="en-GB" sz="2500" err="1"/>
              <a:t>som</a:t>
            </a:r>
            <a:r>
              <a:rPr lang="en-GB" sz="2500"/>
              <a:t> </a:t>
            </a:r>
            <a:r>
              <a:rPr lang="en-GB" sz="2500" err="1"/>
              <a:t>punkter</a:t>
            </a:r>
            <a:r>
              <a:rPr lang="en-GB" sz="2500"/>
              <a:t> </a:t>
            </a:r>
            <a:r>
              <a:rPr sz="2500" err="1"/>
              <a:t>i</a:t>
            </a:r>
            <a:r>
              <a:rPr sz="2500"/>
              <a:t> et </a:t>
            </a:r>
            <a:r>
              <a:rPr sz="2500" err="1"/>
              <a:t>koordinatsystem</a:t>
            </a:r>
            <a:r>
              <a:rPr sz="2500"/>
              <a:t>. </a:t>
            </a:r>
          </a:p>
        </p:txBody>
      </p:sp>
      <p:sp>
        <p:nvSpPr>
          <p:cNvPr id="189" name="Oppgave: Selvstendig"/>
          <p:cNvSpPr/>
          <p:nvPr/>
        </p:nvSpPr>
        <p:spPr>
          <a:xfrm>
            <a:off x="504888" y="7564074"/>
            <a:ext cx="4166815" cy="909380"/>
          </a:xfrm>
          <a:prstGeom prst="rect">
            <a:avLst/>
          </a:prstGeom>
          <a:solidFill>
            <a:srgbClr val="FFFFFF"/>
          </a:solidFill>
          <a:ln w="25400">
            <a:solidFill>
              <a:srgbClr val="E1325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Oppgave: Selvstendig</a:t>
            </a:r>
          </a:p>
        </p:txBody>
      </p:sp>
      <p:sp>
        <p:nvSpPr>
          <p:cNvPr id="190" name="Forklar hverandre formelen dere har jobbet med og sørg for at begge forstår…"/>
          <p:cNvSpPr txBox="1"/>
          <p:nvPr/>
        </p:nvSpPr>
        <p:spPr>
          <a:xfrm>
            <a:off x="13339494" y="8325913"/>
            <a:ext cx="10072289" cy="4826058"/>
          </a:xfrm>
          <a:prstGeom prst="rect">
            <a:avLst/>
          </a:prstGeom>
          <a:ln w="25400">
            <a:solidFill>
              <a:srgbClr val="E1325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lnSpcReduction="10000"/>
          </a:bodyPr>
          <a:lstStyle/>
          <a:p>
            <a:pPr marL="719327" lvl="1" indent="-359663" algn="l" defTabSz="1438619">
              <a:lnSpc>
                <a:spcPct val="90000"/>
              </a:lnSpc>
              <a:spcBef>
                <a:spcPts val="2600"/>
              </a:spcBef>
              <a:buSzPct val="123000"/>
              <a:buChar char="•"/>
              <a:defRPr sz="2832">
                <a:solidFill>
                  <a:srgbClr val="000000"/>
                </a:solidFill>
              </a:defRPr>
            </a:pPr>
            <a:endParaRPr lang="nb-NO"/>
          </a:p>
          <a:p>
            <a:pPr marL="719327" lvl="1" indent="-359663" algn="l" defTabSz="1438619">
              <a:lnSpc>
                <a:spcPct val="90000"/>
              </a:lnSpc>
              <a:spcBef>
                <a:spcPts val="2600"/>
              </a:spcBef>
              <a:buSzPct val="123000"/>
              <a:buChar char="•"/>
              <a:defRPr sz="2832">
                <a:solidFill>
                  <a:srgbClr val="000000"/>
                </a:solidFill>
              </a:defRPr>
            </a:pPr>
            <a:r>
              <a:rPr err="1"/>
              <a:t>Forklar</a:t>
            </a:r>
            <a:r>
              <a:t> </a:t>
            </a:r>
            <a:r>
              <a:rPr err="1"/>
              <a:t>hverandre</a:t>
            </a:r>
            <a:r>
              <a:t> </a:t>
            </a:r>
            <a:r>
              <a:rPr err="1"/>
              <a:t>formelen</a:t>
            </a:r>
            <a:r>
              <a:t> </a:t>
            </a:r>
            <a:r>
              <a:rPr err="1"/>
              <a:t>dere</a:t>
            </a:r>
            <a:r>
              <a:t> </a:t>
            </a:r>
            <a:r>
              <a:rPr err="1"/>
              <a:t>har</a:t>
            </a:r>
            <a:r>
              <a:t> </a:t>
            </a:r>
            <a:r>
              <a:rPr err="1"/>
              <a:t>jobbet</a:t>
            </a:r>
            <a:r>
              <a:t> med </a:t>
            </a:r>
            <a:r>
              <a:rPr err="1"/>
              <a:t>og</a:t>
            </a:r>
            <a:r>
              <a:t> </a:t>
            </a:r>
            <a:r>
              <a:rPr err="1"/>
              <a:t>sørg</a:t>
            </a:r>
            <a:r>
              <a:t> for at </a:t>
            </a:r>
            <a:r>
              <a:rPr err="1"/>
              <a:t>begge</a:t>
            </a:r>
            <a:r>
              <a:t> </a:t>
            </a:r>
            <a:r>
              <a:rPr err="1"/>
              <a:t>forstår</a:t>
            </a:r>
            <a:endParaRPr/>
          </a:p>
          <a:p>
            <a:pPr marL="719327" lvl="1" indent="-359663" algn="l" defTabSz="1438619">
              <a:lnSpc>
                <a:spcPct val="90000"/>
              </a:lnSpc>
              <a:spcBef>
                <a:spcPts val="2600"/>
              </a:spcBef>
              <a:buSzPct val="123000"/>
              <a:buChar char="•"/>
              <a:defRPr sz="2832">
                <a:solidFill>
                  <a:srgbClr val="000000"/>
                </a:solidFill>
              </a:defRPr>
            </a:pPr>
            <a:r>
              <a:rPr err="1"/>
              <a:t>Diskuter</a:t>
            </a:r>
            <a:r>
              <a:t> </a:t>
            </a:r>
            <a:r>
              <a:rPr err="1"/>
              <a:t>sammen</a:t>
            </a:r>
            <a:r>
              <a:t>: </a:t>
            </a:r>
          </a:p>
          <a:p>
            <a:pPr marL="1078991" lvl="2" indent="-359663" algn="l" defTabSz="1438619">
              <a:lnSpc>
                <a:spcPct val="90000"/>
              </a:lnSpc>
              <a:spcBef>
                <a:spcPts val="2600"/>
              </a:spcBef>
              <a:buSzPct val="123000"/>
              <a:buChar char="•"/>
              <a:defRPr sz="2832">
                <a:solidFill>
                  <a:srgbClr val="000000"/>
                </a:solidFill>
              </a:defRPr>
            </a:pPr>
            <a:r>
              <a:rPr err="1"/>
              <a:t>Hva</a:t>
            </a:r>
            <a:r>
              <a:t> er </a:t>
            </a:r>
            <a:r>
              <a:rPr err="1"/>
              <a:t>formålet</a:t>
            </a:r>
            <a:r>
              <a:t> med </a:t>
            </a:r>
            <a:r>
              <a:rPr err="1"/>
              <a:t>hvert</a:t>
            </a:r>
            <a:r>
              <a:t> </a:t>
            </a:r>
            <a:r>
              <a:rPr err="1"/>
              <a:t>mål</a:t>
            </a:r>
            <a:r>
              <a:t>? </a:t>
            </a:r>
          </a:p>
          <a:p>
            <a:pPr marL="1078991" lvl="2" indent="-359663" algn="l" defTabSz="1438619">
              <a:lnSpc>
                <a:spcPct val="90000"/>
              </a:lnSpc>
              <a:spcBef>
                <a:spcPts val="2600"/>
              </a:spcBef>
              <a:buSzPct val="123000"/>
              <a:buChar char="•"/>
              <a:defRPr sz="2832">
                <a:solidFill>
                  <a:srgbClr val="000000"/>
                </a:solidFill>
              </a:defRPr>
            </a:pPr>
            <a:r>
              <a:rPr err="1"/>
              <a:t>Hva</a:t>
            </a:r>
            <a:r>
              <a:t> er de </a:t>
            </a:r>
            <a:r>
              <a:rPr err="1"/>
              <a:t>viktigste</a:t>
            </a:r>
            <a:r>
              <a:t> </a:t>
            </a:r>
            <a:r>
              <a:rPr err="1"/>
              <a:t>forskjellene</a:t>
            </a:r>
            <a:r>
              <a:t> </a:t>
            </a:r>
            <a:r>
              <a:rPr err="1"/>
              <a:t>mellom</a:t>
            </a:r>
            <a:r>
              <a:t> dem? </a:t>
            </a:r>
          </a:p>
          <a:p>
            <a:pPr marL="1078991" lvl="2" indent="-359663" algn="l" defTabSz="1438619">
              <a:lnSpc>
                <a:spcPct val="90000"/>
              </a:lnSpc>
              <a:spcBef>
                <a:spcPts val="2600"/>
              </a:spcBef>
              <a:buSzPct val="123000"/>
              <a:buChar char="•"/>
              <a:defRPr sz="2832">
                <a:solidFill>
                  <a:srgbClr val="000000"/>
                </a:solidFill>
              </a:defRPr>
            </a:pPr>
            <a:r>
              <a:rPr err="1"/>
              <a:t>Hvordan</a:t>
            </a:r>
            <a:r>
              <a:t> </a:t>
            </a:r>
            <a:r>
              <a:rPr err="1"/>
              <a:t>kan</a:t>
            </a:r>
            <a:r>
              <a:t> vi </a:t>
            </a:r>
            <a:r>
              <a:rPr err="1"/>
              <a:t>bruke</a:t>
            </a:r>
            <a:r>
              <a:t> </a:t>
            </a:r>
            <a:r>
              <a:rPr err="1"/>
              <a:t>punktene</a:t>
            </a:r>
            <a:r>
              <a:t> </a:t>
            </a:r>
            <a:r>
              <a:rPr err="1"/>
              <a:t>i</a:t>
            </a:r>
            <a:r>
              <a:t> </a:t>
            </a:r>
            <a:r>
              <a:rPr err="1"/>
              <a:t>koordinatsystemet</a:t>
            </a:r>
            <a:r>
              <a:t> </a:t>
            </a:r>
            <a:r>
              <a:rPr err="1"/>
              <a:t>til</a:t>
            </a:r>
            <a:r>
              <a:t> </a:t>
            </a:r>
            <a:r>
              <a:rPr err="1"/>
              <a:t>å</a:t>
            </a:r>
            <a:r>
              <a:t> </a:t>
            </a:r>
            <a:r>
              <a:rPr err="1"/>
              <a:t>forklare</a:t>
            </a:r>
            <a:r>
              <a:t> </a:t>
            </a:r>
            <a:r>
              <a:rPr err="1"/>
              <a:t>forskjellene</a:t>
            </a:r>
            <a:r>
              <a:t> </a:t>
            </a:r>
            <a:r>
              <a:rPr err="1"/>
              <a:t>mellom</a:t>
            </a:r>
            <a:r>
              <a:t> </a:t>
            </a:r>
            <a:r>
              <a:rPr err="1"/>
              <a:t>tilnærmingene</a:t>
            </a:r>
            <a:r>
              <a:t>?</a:t>
            </a:r>
          </a:p>
        </p:txBody>
      </p:sp>
      <p:sp>
        <p:nvSpPr>
          <p:cNvPr id="191" name="Jobb i par"/>
          <p:cNvSpPr/>
          <p:nvPr/>
        </p:nvSpPr>
        <p:spPr>
          <a:xfrm>
            <a:off x="13491565" y="7564074"/>
            <a:ext cx="4166814" cy="909380"/>
          </a:xfrm>
          <a:prstGeom prst="rect">
            <a:avLst/>
          </a:prstGeom>
          <a:solidFill>
            <a:srgbClr val="FFFFFF"/>
          </a:solidFill>
          <a:ln w="25400">
            <a:solidFill>
              <a:srgbClr val="E1325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Jobb i par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0" animBg="1" advAuto="0"/>
      <p:bldP spid="189" grpId="0" animBg="1" advAuto="0"/>
      <p:bldP spid="190" grpId="0" animBg="1" advAuto="0"/>
      <p:bldP spid="191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F30E-C0DC-F3EE-EA7F-C2D7AD3CA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err="1"/>
              <a:t>Representere</a:t>
            </a:r>
            <a:r>
              <a:rPr lang="en-US"/>
              <a:t> </a:t>
            </a:r>
            <a:r>
              <a:rPr lang="en-US" err="1"/>
              <a:t>tekst</a:t>
            </a:r>
            <a:r>
              <a:rPr lang="en-US"/>
              <a:t>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vektorer</a:t>
            </a:r>
            <a:r>
              <a:rPr lang="en-US"/>
              <a:t> </a:t>
            </a:r>
            <a:endParaRPr lang="en-US" b="0"/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DA5FE-1405-BAA5-CF75-BC84431093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id="{48431F77-7125-4666-43F4-1728512B7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9612" y="6033301"/>
            <a:ext cx="3855243" cy="3819524"/>
          </a:xfrm>
          <a:prstGeom prst="rect">
            <a:avLst/>
          </a:prstGeom>
        </p:spPr>
      </p:pic>
      <p:pic>
        <p:nvPicPr>
          <p:cNvPr id="6" name="Graphic 5" descr="Monitor with solid fill">
            <a:extLst>
              <a:ext uri="{FF2B5EF4-FFF2-40B4-BE49-F238E27FC236}">
                <a16:creationId xmlns:a16="http://schemas.microsoft.com/office/drawing/2014/main" id="{1C4A7C13-DADE-82A5-4C4D-549A202F8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49380" y="6306064"/>
            <a:ext cx="3879056" cy="3843337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4C1CFF36-E89F-7EED-5341-E86F92302DC3}"/>
              </a:ext>
            </a:extLst>
          </p:cNvPr>
          <p:cNvSpPr/>
          <p:nvPr/>
        </p:nvSpPr>
        <p:spPr>
          <a:xfrm>
            <a:off x="8525709" y="7741889"/>
            <a:ext cx="978407" cy="484631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0FF28C6-7A5B-6BFB-CFDC-D4080B3E9E73}"/>
              </a:ext>
            </a:extLst>
          </p:cNvPr>
          <p:cNvSpPr/>
          <p:nvPr/>
        </p:nvSpPr>
        <p:spPr>
          <a:xfrm>
            <a:off x="13386793" y="7742506"/>
            <a:ext cx="978407" cy="484631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9" name="Graphic 8" descr="Question Mark with solid fill">
            <a:extLst>
              <a:ext uri="{FF2B5EF4-FFF2-40B4-BE49-F238E27FC236}">
                <a16:creationId xmlns:a16="http://schemas.microsoft.com/office/drawing/2014/main" id="{13FAEF7B-83EC-52D2-2FDB-01398AA57D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1713" y="7159302"/>
            <a:ext cx="1497806" cy="15692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A4174C-00F3-762E-F757-FE93F0054B6C}"/>
              </a:ext>
            </a:extLst>
          </p:cNvPr>
          <p:cNvSpPr txBox="1"/>
          <p:nvPr/>
        </p:nvSpPr>
        <p:spPr>
          <a:xfrm>
            <a:off x="9578675" y="6300817"/>
            <a:ext cx="3983211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err="1">
                <a:solidFill>
                  <a:srgbClr val="0070C0"/>
                </a:solidFill>
              </a:rPr>
              <a:t>F.eks</a:t>
            </a:r>
            <a:r>
              <a:rPr lang="en-US" sz="2800" b="1">
                <a:solidFill>
                  <a:srgbClr val="0070C0"/>
                </a:solidFill>
              </a:rPr>
              <a:t>. "Bag-of-words"</a:t>
            </a:r>
            <a:endParaRPr lang="en-US" sz="2800" b="1" i="0" u="none" strike="noStrike" cap="none" spc="0" normalizeH="0" baseline="0">
              <a:ln>
                <a:noFill/>
              </a:ln>
              <a:solidFill>
                <a:srgbClr val="0070C0"/>
              </a:solidFill>
              <a:effectLst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066303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presentere tekst som vektor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err="1"/>
              <a:t>Representere</a:t>
            </a:r>
            <a:r>
              <a:t> </a:t>
            </a:r>
            <a:r>
              <a:rPr err="1"/>
              <a:t>tekst</a:t>
            </a:r>
            <a:r>
              <a:t> </a:t>
            </a:r>
            <a:r>
              <a:rPr err="1"/>
              <a:t>som</a:t>
            </a:r>
            <a:r>
              <a:t> </a:t>
            </a:r>
            <a:r>
              <a:rPr err="1"/>
              <a:t>vektorer</a:t>
            </a:r>
            <a:r>
              <a:t> </a:t>
            </a:r>
          </a:p>
        </p:txBody>
      </p:sp>
      <p:sp>
        <p:nvSpPr>
          <p:cNvPr id="195" name="Slide bullet text"/>
          <p:cNvSpPr txBox="1">
            <a:spLocks noGrp="1"/>
          </p:cNvSpPr>
          <p:nvPr>
            <p:ph type="body" idx="1"/>
          </p:nvPr>
        </p:nvSpPr>
        <p:spPr>
          <a:xfrm>
            <a:off x="1206500" y="5126955"/>
            <a:ext cx="21971000" cy="5280486"/>
          </a:xfrm>
          <a:prstGeom prst="rect">
            <a:avLst/>
          </a:prstGeom>
        </p:spPr>
        <p:txBody>
          <a:bodyPr lIns="50800" tIns="50800" rIns="50800" bIns="50800" anchor="t">
            <a:normAutofit fontScale="85000" lnSpcReduction="20000"/>
          </a:bodyPr>
          <a:lstStyle/>
          <a:p>
            <a:pPr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Mange liker </a:t>
            </a:r>
            <a:r>
              <a:rPr lang="en-US" sz="4000" err="1">
                <a:ea typeface="+mn-lt"/>
                <a:cs typeface="+mn-lt"/>
              </a:rPr>
              <a:t>vafler</a:t>
            </a:r>
            <a:r>
              <a:rPr lang="en-US" sz="4000">
                <a:ea typeface="+mn-lt"/>
                <a:cs typeface="+mn-lt"/>
              </a:rPr>
              <a:t> </a:t>
            </a:r>
            <a:r>
              <a:rPr lang="en-US" sz="4000" err="1">
                <a:ea typeface="+mn-lt"/>
                <a:cs typeface="+mn-lt"/>
              </a:rPr>
              <a:t>i</a:t>
            </a:r>
            <a:r>
              <a:rPr lang="en-US" sz="4000">
                <a:ea typeface="+mn-lt"/>
                <a:cs typeface="+mn-lt"/>
              </a:rPr>
              <a:t> Norge</a:t>
            </a:r>
          </a:p>
          <a:p>
            <a:pPr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Det er mange </a:t>
            </a:r>
            <a:r>
              <a:rPr lang="en-US" sz="4000" err="1">
                <a:ea typeface="+mn-lt"/>
                <a:cs typeface="+mn-lt"/>
              </a:rPr>
              <a:t>fjell</a:t>
            </a:r>
            <a:r>
              <a:rPr lang="en-US" sz="4000">
                <a:ea typeface="+mn-lt"/>
                <a:cs typeface="+mn-lt"/>
              </a:rPr>
              <a:t> </a:t>
            </a:r>
            <a:r>
              <a:rPr lang="en-US" sz="4000" err="1">
                <a:ea typeface="+mn-lt"/>
                <a:cs typeface="+mn-lt"/>
              </a:rPr>
              <a:t>i</a:t>
            </a:r>
            <a:r>
              <a:rPr lang="en-US" sz="4000">
                <a:ea typeface="+mn-lt"/>
                <a:cs typeface="+mn-lt"/>
              </a:rPr>
              <a:t> Norge</a:t>
            </a:r>
          </a:p>
          <a:p>
            <a:pPr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Mange liker </a:t>
            </a:r>
            <a:r>
              <a:rPr lang="en-US" sz="4000" err="1">
                <a:ea typeface="+mn-lt"/>
                <a:cs typeface="+mn-lt"/>
              </a:rPr>
              <a:t>norsk</a:t>
            </a:r>
            <a:r>
              <a:rPr lang="en-US" sz="4000">
                <a:ea typeface="+mn-lt"/>
                <a:cs typeface="+mn-lt"/>
              </a:rPr>
              <a:t> mat</a:t>
            </a:r>
          </a:p>
          <a:p>
            <a:pPr>
              <a:buFont typeface="Arial"/>
              <a:buChar char="•"/>
            </a:pPr>
            <a:r>
              <a:rPr lang="en-US" sz="4000" err="1">
                <a:ea typeface="+mn-lt"/>
                <a:cs typeface="+mn-lt"/>
              </a:rPr>
              <a:t>Vafler</a:t>
            </a:r>
            <a:r>
              <a:rPr lang="en-US" sz="4000">
                <a:ea typeface="+mn-lt"/>
                <a:cs typeface="+mn-lt"/>
              </a:rPr>
              <a:t> er </a:t>
            </a:r>
            <a:r>
              <a:rPr lang="en-US" sz="4000" err="1">
                <a:ea typeface="+mn-lt"/>
                <a:cs typeface="+mn-lt"/>
              </a:rPr>
              <a:t>populær</a:t>
            </a:r>
            <a:r>
              <a:rPr lang="en-US" sz="4000">
                <a:ea typeface="+mn-lt"/>
                <a:cs typeface="+mn-lt"/>
              </a:rPr>
              <a:t> </a:t>
            </a:r>
            <a:r>
              <a:rPr lang="en-US" sz="4000" err="1">
                <a:ea typeface="+mn-lt"/>
                <a:cs typeface="+mn-lt"/>
              </a:rPr>
              <a:t>norsk</a:t>
            </a:r>
            <a:r>
              <a:rPr lang="en-US" sz="4000">
                <a:ea typeface="+mn-lt"/>
                <a:cs typeface="+mn-lt"/>
              </a:rPr>
              <a:t> mat</a:t>
            </a:r>
          </a:p>
          <a:p>
            <a:pPr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Mange liker ski </a:t>
            </a:r>
            <a:r>
              <a:rPr lang="en-US" sz="4000" err="1">
                <a:ea typeface="+mn-lt"/>
                <a:cs typeface="+mn-lt"/>
              </a:rPr>
              <a:t>i</a:t>
            </a:r>
            <a:r>
              <a:rPr lang="en-US" sz="4000">
                <a:ea typeface="+mn-lt"/>
                <a:cs typeface="+mn-lt"/>
              </a:rPr>
              <a:t> Norge</a:t>
            </a:r>
          </a:p>
          <a:p>
            <a:pPr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Det er mange </a:t>
            </a:r>
            <a:r>
              <a:rPr lang="en-US" sz="4000" err="1">
                <a:ea typeface="+mn-lt"/>
                <a:cs typeface="+mn-lt"/>
              </a:rPr>
              <a:t>fjell</a:t>
            </a:r>
          </a:p>
          <a:p>
            <a:pPr>
              <a:lnSpc>
                <a:spcPct val="0"/>
              </a:lnSpc>
              <a:buFont typeface="Arial"/>
              <a:buChar char="•"/>
            </a:pPr>
            <a:endParaRPr lang="en-US" sz="4000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1D80C-26D1-1B3E-5EF1-9BFA182D563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41503" y="3560943"/>
            <a:ext cx="21971000" cy="934780"/>
          </a:xfrm>
        </p:spPr>
        <p:txBody>
          <a:bodyPr lIns="45719" tIns="45719" rIns="45719" bIns="45719" anchor="t">
            <a:normAutofit fontScale="62500" lnSpcReduction="20000"/>
          </a:bodyPr>
          <a:lstStyle/>
          <a:p>
            <a:pPr marL="914400" indent="-914400">
              <a:buAutoNum type="arabicPeriod"/>
            </a:pPr>
            <a:r>
              <a:rPr lang="en-US" b="0" err="1"/>
              <a:t>Bygg</a:t>
            </a:r>
            <a:r>
              <a:rPr lang="en-US" b="0"/>
              <a:t> </a:t>
            </a:r>
            <a:r>
              <a:rPr lang="en-US" b="0" err="1"/>
              <a:t>ordforrådet</a:t>
            </a:r>
            <a:r>
              <a:rPr lang="en-US" b="0"/>
              <a:t> (</a:t>
            </a:r>
            <a:r>
              <a:rPr lang="en-US" b="0" err="1"/>
              <a:t>vokabularet</a:t>
            </a:r>
            <a:r>
              <a:rPr lang="en-US" b="0"/>
              <a:t>): Lag </a:t>
            </a:r>
            <a:r>
              <a:rPr lang="en-US" b="0" err="1"/>
              <a:t>en</a:t>
            </a:r>
            <a:r>
              <a:rPr lang="en-US" b="0"/>
              <a:t> </a:t>
            </a:r>
            <a:r>
              <a:rPr lang="en-US" b="0" err="1"/>
              <a:t>liste</a:t>
            </a:r>
            <a:r>
              <a:rPr lang="en-US" b="0"/>
              <a:t> over alle </a:t>
            </a:r>
            <a:r>
              <a:rPr lang="en-US" b="0" err="1"/>
              <a:t>unike</a:t>
            </a:r>
            <a:r>
              <a:rPr lang="en-US" b="0"/>
              <a:t> </a:t>
            </a:r>
            <a:r>
              <a:rPr lang="en-US" b="0" err="1"/>
              <a:t>ord</a:t>
            </a:r>
            <a:r>
              <a:rPr lang="en-US" b="0"/>
              <a:t> </a:t>
            </a:r>
            <a:r>
              <a:rPr lang="en-US" b="0" err="1"/>
              <a:t>i</a:t>
            </a:r>
            <a:r>
              <a:rPr lang="en-US" b="0"/>
              <a:t> </a:t>
            </a:r>
            <a:r>
              <a:rPr lang="en-US" b="0" err="1"/>
              <a:t>setningene</a:t>
            </a:r>
            <a:r>
              <a:rPr lang="en-US" b="0"/>
              <a:t> </a:t>
            </a:r>
            <a:r>
              <a:rPr lang="en-US" b="0" err="1"/>
              <a:t>i</a:t>
            </a:r>
            <a:r>
              <a:rPr lang="en-US" b="0"/>
              <a:t> </a:t>
            </a:r>
            <a:r>
              <a:rPr lang="en-US" b="0" err="1"/>
              <a:t>alfabetisk</a:t>
            </a:r>
            <a:r>
              <a:rPr lang="en-US" b="0"/>
              <a:t> </a:t>
            </a:r>
            <a:r>
              <a:rPr lang="en-US" b="0" err="1"/>
              <a:t>rekkefølge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11FB0-854F-DC9E-48B2-0D904E39E305}"/>
              </a:ext>
            </a:extLst>
          </p:cNvPr>
          <p:cNvSpPr txBox="1"/>
          <p:nvPr/>
        </p:nvSpPr>
        <p:spPr>
          <a:xfrm>
            <a:off x="1048126" y="2665365"/>
            <a:ext cx="350580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err="1"/>
              <a:t>Oppgave</a:t>
            </a:r>
            <a:r>
              <a:rPr lang="en-US" sz="3200"/>
              <a:t>:</a:t>
            </a:r>
            <a:endParaRPr lang="en-US" sz="32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480317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25DA6-7731-9CE9-432F-A6A81F37E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presentere tekst som vektorer">
            <a:extLst>
              <a:ext uri="{FF2B5EF4-FFF2-40B4-BE49-F238E27FC236}">
                <a16:creationId xmlns:a16="http://schemas.microsoft.com/office/drawing/2014/main" id="{AD3E15C5-6DCF-4F09-6640-87D435E7AB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err="1"/>
              <a:t>Representere</a:t>
            </a:r>
            <a:r>
              <a:t> </a:t>
            </a:r>
            <a:r>
              <a:rPr err="1"/>
              <a:t>tekst</a:t>
            </a:r>
            <a:r>
              <a:t> </a:t>
            </a:r>
            <a:r>
              <a:rPr err="1"/>
              <a:t>som</a:t>
            </a:r>
            <a:r>
              <a:t> </a:t>
            </a:r>
            <a:r>
              <a:rPr err="1"/>
              <a:t>vektorer</a:t>
            </a:r>
            <a: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A22BD-C535-0161-F6E8-5588003B3C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41503" y="3560943"/>
            <a:ext cx="21971000" cy="934780"/>
          </a:xfrm>
        </p:spPr>
        <p:txBody>
          <a:bodyPr lIns="45719" tIns="45719" rIns="45719" bIns="45719" anchor="t">
            <a:noAutofit/>
          </a:bodyPr>
          <a:lstStyle/>
          <a:p>
            <a:r>
              <a:rPr lang="en-US" sz="3400" b="0"/>
              <a:t>2. Lag </a:t>
            </a:r>
            <a:r>
              <a:rPr lang="en-US" sz="3400" b="0" err="1"/>
              <a:t>dokument</a:t>
            </a:r>
            <a:r>
              <a:rPr lang="en-US" sz="3400" b="0"/>
              <a:t>–term-</a:t>
            </a:r>
            <a:r>
              <a:rPr lang="en-US" sz="3400" b="0" err="1"/>
              <a:t>matrise</a:t>
            </a:r>
            <a:r>
              <a:rPr lang="en-US" sz="3400" b="0"/>
              <a:t>: Lag </a:t>
            </a:r>
            <a:r>
              <a:rPr lang="en-US" sz="3400" b="0" err="1"/>
              <a:t>en</a:t>
            </a:r>
            <a:r>
              <a:rPr lang="en-US" sz="3400" b="0"/>
              <a:t> </a:t>
            </a:r>
            <a:r>
              <a:rPr lang="en-US" sz="3400" b="0" err="1"/>
              <a:t>tabell</a:t>
            </a:r>
            <a:r>
              <a:rPr lang="en-US" sz="3400" b="0"/>
              <a:t> der </a:t>
            </a:r>
            <a:r>
              <a:rPr lang="en-US" sz="3400" b="0" err="1"/>
              <a:t>kolonnene</a:t>
            </a:r>
            <a:r>
              <a:rPr lang="en-US" sz="3400" b="0"/>
              <a:t> er </a:t>
            </a:r>
            <a:r>
              <a:rPr lang="en-US" sz="3400" b="0" err="1"/>
              <a:t>setninger</a:t>
            </a:r>
            <a:r>
              <a:rPr lang="en-US" sz="3400" b="0"/>
              <a:t> </a:t>
            </a:r>
            <a:r>
              <a:rPr lang="en-US" sz="3400" b="0" err="1"/>
              <a:t>og</a:t>
            </a:r>
            <a:r>
              <a:rPr lang="en-US" sz="3400" b="0"/>
              <a:t> </a:t>
            </a:r>
            <a:r>
              <a:rPr lang="en-US" sz="3400" b="0" err="1"/>
              <a:t>radene</a:t>
            </a:r>
            <a:r>
              <a:rPr lang="en-US" sz="3400" b="0"/>
              <a:t> er de </a:t>
            </a:r>
            <a:r>
              <a:rPr lang="en-US" sz="3400" b="0" err="1"/>
              <a:t>unike</a:t>
            </a:r>
            <a:r>
              <a:rPr lang="en-US" sz="3400" b="0"/>
              <a:t> </a:t>
            </a:r>
            <a:r>
              <a:rPr lang="en-US" sz="3400" b="0" err="1"/>
              <a:t>ordene</a:t>
            </a:r>
            <a:r>
              <a:rPr lang="en-US" sz="3400" b="0"/>
              <a:t> vi </a:t>
            </a:r>
            <a:r>
              <a:rPr lang="en-US" sz="3400" b="0" err="1"/>
              <a:t>listet</a:t>
            </a:r>
            <a:r>
              <a:rPr lang="en-US" sz="3400" b="0"/>
              <a:t> </a:t>
            </a:r>
            <a:r>
              <a:rPr lang="en-US" sz="3400" b="0" err="1"/>
              <a:t>opp</a:t>
            </a:r>
            <a:r>
              <a:rPr lang="en-US" sz="3400" b="0"/>
              <a:t> (</a:t>
            </a:r>
            <a:r>
              <a:rPr lang="en-US" sz="3400" b="0" err="1"/>
              <a:t>altså</a:t>
            </a:r>
            <a:r>
              <a:rPr lang="en-US" sz="3400" b="0"/>
              <a:t> </a:t>
            </a:r>
            <a:r>
              <a:rPr lang="en-US" sz="3400" b="0" err="1"/>
              <a:t>trekkene</a:t>
            </a:r>
            <a:r>
              <a:rPr lang="en-US" sz="3400" b="0"/>
              <a:t>). </a:t>
            </a:r>
            <a:r>
              <a:rPr lang="en-US" sz="3400" b="0" err="1"/>
              <a:t>Fyll</a:t>
            </a:r>
            <a:r>
              <a:rPr lang="en-US" sz="3400" b="0"/>
              <a:t> inn 1 </a:t>
            </a:r>
            <a:r>
              <a:rPr lang="en-US" sz="3400" b="0" err="1"/>
              <a:t>hvis</a:t>
            </a:r>
            <a:r>
              <a:rPr lang="en-US" sz="3400" b="0"/>
              <a:t> </a:t>
            </a:r>
            <a:r>
              <a:rPr lang="en-US" sz="3400" b="0" err="1"/>
              <a:t>ordet</a:t>
            </a:r>
            <a:r>
              <a:rPr lang="en-US" sz="3400" b="0"/>
              <a:t> </a:t>
            </a:r>
            <a:r>
              <a:rPr lang="en-US" sz="3400" b="0" err="1"/>
              <a:t>finnes</a:t>
            </a:r>
            <a:r>
              <a:rPr lang="en-US" sz="3400" b="0"/>
              <a:t> </a:t>
            </a:r>
            <a:r>
              <a:rPr lang="en-US" sz="3400" b="0" err="1"/>
              <a:t>i</a:t>
            </a:r>
            <a:r>
              <a:rPr lang="en-US" sz="3400" b="0"/>
              <a:t> </a:t>
            </a:r>
            <a:r>
              <a:rPr lang="en-US" sz="3400" b="0" err="1"/>
              <a:t>setningen</a:t>
            </a:r>
            <a:r>
              <a:rPr lang="en-US" sz="3400" b="0"/>
              <a:t>, </a:t>
            </a:r>
            <a:r>
              <a:rPr lang="en-US" sz="3400" b="0" err="1"/>
              <a:t>ellers</a:t>
            </a:r>
            <a:r>
              <a:rPr lang="en-US" sz="3400" b="0"/>
              <a:t> 0. 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7EE2D-BB7B-115D-E25E-0402154D10E1}"/>
              </a:ext>
            </a:extLst>
          </p:cNvPr>
          <p:cNvSpPr txBox="1"/>
          <p:nvPr/>
        </p:nvSpPr>
        <p:spPr>
          <a:xfrm>
            <a:off x="1048126" y="2665365"/>
            <a:ext cx="350580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err="1"/>
              <a:t>Oppgave</a:t>
            </a:r>
            <a:r>
              <a:rPr lang="en-US" sz="3200"/>
              <a:t>:</a:t>
            </a:r>
            <a:endParaRPr lang="en-US" sz="32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5A32FE4-2ECB-6787-00C9-FAD0C92A09B7}"/>
              </a:ext>
            </a:extLst>
          </p:cNvPr>
          <p:cNvSpPr/>
          <p:nvPr/>
        </p:nvSpPr>
        <p:spPr>
          <a:xfrm>
            <a:off x="8091117" y="6565832"/>
            <a:ext cx="1677384" cy="507549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E03672-F3AA-D1F2-141B-80582F2254F6}"/>
              </a:ext>
            </a:extLst>
          </p:cNvPr>
          <p:cNvGraphicFramePr>
            <a:graphicFrameLocks noGrp="1"/>
          </p:cNvGraphicFramePr>
          <p:nvPr/>
        </p:nvGraphicFramePr>
        <p:xfrm>
          <a:off x="10552116" y="5218471"/>
          <a:ext cx="2853408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568">
                  <a:extLst>
                    <a:ext uri="{9D8B030D-6E8A-4147-A177-3AD203B41FA5}">
                      <a16:colId xmlns:a16="http://schemas.microsoft.com/office/drawing/2014/main" val="2375460889"/>
                    </a:ext>
                  </a:extLst>
                </a:gridCol>
                <a:gridCol w="475568">
                  <a:extLst>
                    <a:ext uri="{9D8B030D-6E8A-4147-A177-3AD203B41FA5}">
                      <a16:colId xmlns:a16="http://schemas.microsoft.com/office/drawing/2014/main" val="1649785538"/>
                    </a:ext>
                  </a:extLst>
                </a:gridCol>
                <a:gridCol w="475568">
                  <a:extLst>
                    <a:ext uri="{9D8B030D-6E8A-4147-A177-3AD203B41FA5}">
                      <a16:colId xmlns:a16="http://schemas.microsoft.com/office/drawing/2014/main" val="1697893364"/>
                    </a:ext>
                  </a:extLst>
                </a:gridCol>
                <a:gridCol w="475568">
                  <a:extLst>
                    <a:ext uri="{9D8B030D-6E8A-4147-A177-3AD203B41FA5}">
                      <a16:colId xmlns:a16="http://schemas.microsoft.com/office/drawing/2014/main" val="2110763032"/>
                    </a:ext>
                  </a:extLst>
                </a:gridCol>
                <a:gridCol w="475568">
                  <a:extLst>
                    <a:ext uri="{9D8B030D-6E8A-4147-A177-3AD203B41FA5}">
                      <a16:colId xmlns:a16="http://schemas.microsoft.com/office/drawing/2014/main" val="3377891416"/>
                    </a:ext>
                  </a:extLst>
                </a:gridCol>
                <a:gridCol w="475568">
                  <a:extLst>
                    <a:ext uri="{9D8B030D-6E8A-4147-A177-3AD203B41FA5}">
                      <a16:colId xmlns:a16="http://schemas.microsoft.com/office/drawing/2014/main" val="2773667356"/>
                    </a:ext>
                  </a:extLst>
                </a:gridCol>
              </a:tblGrid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1106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687024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77099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401792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67497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988874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033594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367686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91417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30472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09339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195997"/>
                  </a:ext>
                </a:extLst>
              </a:tr>
            </a:tbl>
          </a:graphicData>
        </a:graphic>
      </p:graphicFrame>
      <p:sp>
        <p:nvSpPr>
          <p:cNvPr id="16" name="Slide bullet text">
            <a:extLst>
              <a:ext uri="{FF2B5EF4-FFF2-40B4-BE49-F238E27FC236}">
                <a16:creationId xmlns:a16="http://schemas.microsoft.com/office/drawing/2014/main" id="{16940264-2DF9-F8D8-4746-FF60114C61E6}"/>
              </a:ext>
            </a:extLst>
          </p:cNvPr>
          <p:cNvSpPr txBox="1">
            <a:spLocks/>
          </p:cNvSpPr>
          <p:nvPr/>
        </p:nvSpPr>
        <p:spPr>
          <a:xfrm>
            <a:off x="1206500" y="5126955"/>
            <a:ext cx="21971000" cy="5280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rmAutofit fontScale="85000" lnSpcReduction="20000"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Mange liker </a:t>
            </a:r>
            <a:r>
              <a:rPr lang="en-US" sz="4000" err="1">
                <a:ea typeface="+mn-lt"/>
                <a:cs typeface="+mn-lt"/>
              </a:rPr>
              <a:t>vafler</a:t>
            </a:r>
            <a:r>
              <a:rPr lang="en-US" sz="4000">
                <a:ea typeface="+mn-lt"/>
                <a:cs typeface="+mn-lt"/>
              </a:rPr>
              <a:t> </a:t>
            </a:r>
            <a:r>
              <a:rPr lang="en-US" sz="4000" err="1">
                <a:ea typeface="+mn-lt"/>
                <a:cs typeface="+mn-lt"/>
              </a:rPr>
              <a:t>i</a:t>
            </a:r>
            <a:r>
              <a:rPr lang="en-US" sz="4000">
                <a:ea typeface="+mn-lt"/>
                <a:cs typeface="+mn-lt"/>
              </a:rPr>
              <a:t> Norge</a:t>
            </a:r>
          </a:p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Det er mange </a:t>
            </a:r>
            <a:r>
              <a:rPr lang="en-US" sz="4000" err="1">
                <a:ea typeface="+mn-lt"/>
                <a:cs typeface="+mn-lt"/>
              </a:rPr>
              <a:t>fjell</a:t>
            </a:r>
            <a:r>
              <a:rPr lang="en-US" sz="4000">
                <a:ea typeface="+mn-lt"/>
                <a:cs typeface="+mn-lt"/>
              </a:rPr>
              <a:t> </a:t>
            </a:r>
            <a:r>
              <a:rPr lang="en-US" sz="4000" err="1">
                <a:ea typeface="+mn-lt"/>
                <a:cs typeface="+mn-lt"/>
              </a:rPr>
              <a:t>i</a:t>
            </a:r>
            <a:r>
              <a:rPr lang="en-US" sz="4000">
                <a:ea typeface="+mn-lt"/>
                <a:cs typeface="+mn-lt"/>
              </a:rPr>
              <a:t> Norge</a:t>
            </a:r>
          </a:p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Mange liker </a:t>
            </a:r>
            <a:r>
              <a:rPr lang="en-US" sz="4000" err="1">
                <a:ea typeface="+mn-lt"/>
                <a:cs typeface="+mn-lt"/>
              </a:rPr>
              <a:t>norsk</a:t>
            </a:r>
            <a:r>
              <a:rPr lang="en-US" sz="4000">
                <a:ea typeface="+mn-lt"/>
                <a:cs typeface="+mn-lt"/>
              </a:rPr>
              <a:t> mat</a:t>
            </a:r>
          </a:p>
          <a:p>
            <a:pPr hangingPunct="1">
              <a:buFont typeface="Arial"/>
              <a:buChar char="•"/>
            </a:pPr>
            <a:r>
              <a:rPr lang="en-US" sz="4000" err="1">
                <a:ea typeface="+mn-lt"/>
                <a:cs typeface="+mn-lt"/>
              </a:rPr>
              <a:t>Vafler</a:t>
            </a:r>
            <a:r>
              <a:rPr lang="en-US" sz="4000">
                <a:ea typeface="+mn-lt"/>
                <a:cs typeface="+mn-lt"/>
              </a:rPr>
              <a:t> er </a:t>
            </a:r>
            <a:r>
              <a:rPr lang="en-US" sz="4000" err="1">
                <a:ea typeface="+mn-lt"/>
                <a:cs typeface="+mn-lt"/>
              </a:rPr>
              <a:t>populær</a:t>
            </a:r>
            <a:r>
              <a:rPr lang="en-US" sz="4000">
                <a:ea typeface="+mn-lt"/>
                <a:cs typeface="+mn-lt"/>
              </a:rPr>
              <a:t> </a:t>
            </a:r>
            <a:r>
              <a:rPr lang="en-US" sz="4000" err="1">
                <a:ea typeface="+mn-lt"/>
                <a:cs typeface="+mn-lt"/>
              </a:rPr>
              <a:t>norsk</a:t>
            </a:r>
            <a:r>
              <a:rPr lang="en-US" sz="4000">
                <a:ea typeface="+mn-lt"/>
                <a:cs typeface="+mn-lt"/>
              </a:rPr>
              <a:t> mat</a:t>
            </a:r>
          </a:p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Mange liker ski </a:t>
            </a:r>
            <a:r>
              <a:rPr lang="en-US" sz="4000" err="1">
                <a:ea typeface="+mn-lt"/>
                <a:cs typeface="+mn-lt"/>
              </a:rPr>
              <a:t>i</a:t>
            </a:r>
            <a:r>
              <a:rPr lang="en-US" sz="4000">
                <a:ea typeface="+mn-lt"/>
                <a:cs typeface="+mn-lt"/>
              </a:rPr>
              <a:t> Norge</a:t>
            </a:r>
          </a:p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Det er mange </a:t>
            </a:r>
            <a:r>
              <a:rPr lang="en-US" sz="4000" err="1">
                <a:ea typeface="+mn-lt"/>
                <a:cs typeface="+mn-lt"/>
              </a:rPr>
              <a:t>fjell</a:t>
            </a:r>
          </a:p>
          <a:p>
            <a:pPr hangingPunct="1">
              <a:lnSpc>
                <a:spcPct val="0"/>
              </a:lnSpc>
              <a:buFont typeface="Arial"/>
              <a:buChar char="•"/>
            </a:pPr>
            <a:endParaRPr lang="en-US" sz="4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997070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1C38D-29EC-CB9A-79CF-E839AC2F7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presentere tekst som vektorer">
            <a:extLst>
              <a:ext uri="{FF2B5EF4-FFF2-40B4-BE49-F238E27FC236}">
                <a16:creationId xmlns:a16="http://schemas.microsoft.com/office/drawing/2014/main" id="{A8B14615-7A44-D98C-000D-08A27CCC19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err="1"/>
              <a:t>Representere</a:t>
            </a:r>
            <a:r>
              <a:t> </a:t>
            </a:r>
            <a:r>
              <a:rPr err="1"/>
              <a:t>tekst</a:t>
            </a:r>
            <a:r>
              <a:t> </a:t>
            </a:r>
            <a:r>
              <a:rPr err="1"/>
              <a:t>som</a:t>
            </a:r>
            <a:r>
              <a:t> </a:t>
            </a:r>
            <a:r>
              <a:rPr err="1"/>
              <a:t>vektorer</a:t>
            </a:r>
            <a: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72754-9514-2947-75C7-7CB74040A19A}"/>
              </a:ext>
            </a:extLst>
          </p:cNvPr>
          <p:cNvSpPr txBox="1"/>
          <p:nvPr/>
        </p:nvSpPr>
        <p:spPr>
          <a:xfrm>
            <a:off x="1048126" y="2665365"/>
            <a:ext cx="350580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err="1"/>
              <a:t>Oppgave</a:t>
            </a:r>
            <a:r>
              <a:rPr lang="en-US" sz="3200"/>
              <a:t>:</a:t>
            </a:r>
            <a:endParaRPr lang="en-US" sz="32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7DCBAB07-E3F3-3062-FD68-B15E0269B0EA}"/>
              </a:ext>
            </a:extLst>
          </p:cNvPr>
          <p:cNvSpPr/>
          <p:nvPr/>
        </p:nvSpPr>
        <p:spPr>
          <a:xfrm>
            <a:off x="8091117" y="6565832"/>
            <a:ext cx="1677384" cy="507549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D3CCE2-6771-FEAB-8F7E-9A880AEF62F7}"/>
              </a:ext>
            </a:extLst>
          </p:cNvPr>
          <p:cNvGraphicFramePr>
            <a:graphicFrameLocks noGrp="1"/>
          </p:cNvGraphicFramePr>
          <p:nvPr/>
        </p:nvGraphicFramePr>
        <p:xfrm>
          <a:off x="10552116" y="5218471"/>
          <a:ext cx="2853402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567">
                  <a:extLst>
                    <a:ext uri="{9D8B030D-6E8A-4147-A177-3AD203B41FA5}">
                      <a16:colId xmlns:a16="http://schemas.microsoft.com/office/drawing/2014/main" val="2375460889"/>
                    </a:ext>
                  </a:extLst>
                </a:gridCol>
                <a:gridCol w="475567">
                  <a:extLst>
                    <a:ext uri="{9D8B030D-6E8A-4147-A177-3AD203B41FA5}">
                      <a16:colId xmlns:a16="http://schemas.microsoft.com/office/drawing/2014/main" val="1649785538"/>
                    </a:ext>
                  </a:extLst>
                </a:gridCol>
                <a:gridCol w="475567">
                  <a:extLst>
                    <a:ext uri="{9D8B030D-6E8A-4147-A177-3AD203B41FA5}">
                      <a16:colId xmlns:a16="http://schemas.microsoft.com/office/drawing/2014/main" val="1697893364"/>
                    </a:ext>
                  </a:extLst>
                </a:gridCol>
                <a:gridCol w="475567">
                  <a:extLst>
                    <a:ext uri="{9D8B030D-6E8A-4147-A177-3AD203B41FA5}">
                      <a16:colId xmlns:a16="http://schemas.microsoft.com/office/drawing/2014/main" val="2110763032"/>
                    </a:ext>
                  </a:extLst>
                </a:gridCol>
                <a:gridCol w="475567">
                  <a:extLst>
                    <a:ext uri="{9D8B030D-6E8A-4147-A177-3AD203B41FA5}">
                      <a16:colId xmlns:a16="http://schemas.microsoft.com/office/drawing/2014/main" val="3377891416"/>
                    </a:ext>
                  </a:extLst>
                </a:gridCol>
                <a:gridCol w="475567">
                  <a:extLst>
                    <a:ext uri="{9D8B030D-6E8A-4147-A177-3AD203B41FA5}">
                      <a16:colId xmlns:a16="http://schemas.microsoft.com/office/drawing/2014/main" val="2773667356"/>
                    </a:ext>
                  </a:extLst>
                </a:gridCol>
              </a:tblGrid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1106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687024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77099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401792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67497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988874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033594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367686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91417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30472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09339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195997"/>
                  </a:ext>
                </a:extLst>
              </a:tr>
            </a:tbl>
          </a:graphicData>
        </a:graphic>
      </p:graphicFrame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0BF379-890F-272B-F45C-F60AA9E16809}"/>
              </a:ext>
            </a:extLst>
          </p:cNvPr>
          <p:cNvSpPr txBox="1">
            <a:spLocks/>
          </p:cNvSpPr>
          <p:nvPr/>
        </p:nvSpPr>
        <p:spPr>
          <a:xfrm>
            <a:off x="1041503" y="3560943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19" rIns="45719" bIns="45719" anchor="t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sz="3400" b="0">
                <a:cs typeface="Arial"/>
              </a:rPr>
              <a:t>3. Hent</a:t>
            </a:r>
            <a:r>
              <a:rPr lang="en-US" sz="3400" b="0">
                <a:latin typeface="Helvetica Neue"/>
                <a:cs typeface="Arial"/>
              </a:rPr>
              <a:t> </a:t>
            </a:r>
            <a:r>
              <a:rPr lang="en-US" sz="3400" b="0" err="1">
                <a:latin typeface="Helvetica Neue"/>
                <a:cs typeface="Arial"/>
              </a:rPr>
              <a:t>ut</a:t>
            </a:r>
            <a:r>
              <a:rPr lang="en-US" sz="3400" b="0">
                <a:latin typeface="Helvetica Neue"/>
                <a:cs typeface="Arial"/>
              </a:rPr>
              <a:t> </a:t>
            </a:r>
            <a:r>
              <a:rPr lang="en-US" sz="3400" b="0" err="1">
                <a:latin typeface="Helvetica Neue"/>
                <a:cs typeface="Arial"/>
              </a:rPr>
              <a:t>tellevektor</a:t>
            </a:r>
            <a:r>
              <a:rPr lang="en-US" sz="3400" b="0">
                <a:latin typeface="Helvetica Neue"/>
                <a:cs typeface="Arial"/>
              </a:rPr>
              <a:t> (Bag-of-words) for </a:t>
            </a:r>
            <a:r>
              <a:rPr lang="en-US" sz="3400" b="0" err="1">
                <a:latin typeface="Helvetica Neue"/>
                <a:cs typeface="Arial"/>
              </a:rPr>
              <a:t>hver</a:t>
            </a:r>
            <a:r>
              <a:rPr lang="en-US" sz="3400" b="0">
                <a:latin typeface="Helvetica Neue"/>
                <a:cs typeface="Arial"/>
              </a:rPr>
              <a:t> </a:t>
            </a:r>
            <a:r>
              <a:rPr lang="en-US" sz="3400" b="0" err="1">
                <a:latin typeface="Helvetica Neue"/>
                <a:cs typeface="Arial"/>
              </a:rPr>
              <a:t>setning</a:t>
            </a:r>
            <a:endParaRPr lang="en-US" sz="3400" b="0" err="1">
              <a:latin typeface="Helvetica Neue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B52AD4F-D194-010A-C5DF-DA8EA45465DE}"/>
              </a:ext>
            </a:extLst>
          </p:cNvPr>
          <p:cNvSpPr/>
          <p:nvPr/>
        </p:nvSpPr>
        <p:spPr>
          <a:xfrm>
            <a:off x="14204349" y="6566633"/>
            <a:ext cx="1677384" cy="507549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Slide bullet text">
            <a:extLst>
              <a:ext uri="{FF2B5EF4-FFF2-40B4-BE49-F238E27FC236}">
                <a16:creationId xmlns:a16="http://schemas.microsoft.com/office/drawing/2014/main" id="{A3007351-EC7F-2226-2726-D73176BDB102}"/>
              </a:ext>
            </a:extLst>
          </p:cNvPr>
          <p:cNvSpPr txBox="1">
            <a:spLocks/>
          </p:cNvSpPr>
          <p:nvPr/>
        </p:nvSpPr>
        <p:spPr>
          <a:xfrm>
            <a:off x="16516543" y="4918225"/>
            <a:ext cx="5553929" cy="5804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rmAutofit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hangingPunct="1">
              <a:lnSpc>
                <a:spcPct val="100000"/>
              </a:lnSpc>
              <a:buNone/>
            </a:pPr>
            <a:r>
              <a:rPr lang="en-US" sz="4000"/>
              <a:t>S1 = [ ] ?</a:t>
            </a:r>
            <a:br>
              <a:rPr lang="en-US" sz="4000"/>
            </a:br>
            <a:r>
              <a:rPr lang="en-US" sz="4000"/>
              <a:t>S2 = [ ] ?</a:t>
            </a:r>
            <a:br>
              <a:rPr lang="en-US" sz="4000"/>
            </a:br>
            <a:r>
              <a:rPr lang="en-US" sz="4000"/>
              <a:t>  .</a:t>
            </a:r>
            <a:br>
              <a:rPr lang="en-US" sz="4000"/>
            </a:br>
            <a:r>
              <a:rPr lang="en-US" sz="4000"/>
              <a:t>  .</a:t>
            </a:r>
            <a:br>
              <a:rPr lang="en-US" sz="4000"/>
            </a:br>
            <a:r>
              <a:rPr lang="en-US" sz="4000"/>
              <a:t>  . </a:t>
            </a:r>
          </a:p>
        </p:txBody>
      </p:sp>
      <p:sp>
        <p:nvSpPr>
          <p:cNvPr id="14" name="Slide bullet text">
            <a:extLst>
              <a:ext uri="{FF2B5EF4-FFF2-40B4-BE49-F238E27FC236}">
                <a16:creationId xmlns:a16="http://schemas.microsoft.com/office/drawing/2014/main" id="{463C95D3-C53E-78AB-F6AB-AC75683FC6C2}"/>
              </a:ext>
            </a:extLst>
          </p:cNvPr>
          <p:cNvSpPr txBox="1">
            <a:spLocks/>
          </p:cNvSpPr>
          <p:nvPr/>
        </p:nvSpPr>
        <p:spPr>
          <a:xfrm>
            <a:off x="16517344" y="4919026"/>
            <a:ext cx="7035595" cy="5804360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hangingPunct="1">
              <a:lnSpc>
                <a:spcPct val="100000"/>
              </a:lnSpc>
              <a:buNone/>
            </a:pPr>
            <a:r>
              <a:rPr lang="en-US" sz="4000">
                <a:solidFill>
                  <a:schemeClr val="bg2">
                    <a:lumMod val="10000"/>
                  </a:schemeClr>
                </a:solidFill>
              </a:rPr>
              <a:t>S1 = [ ] ?</a:t>
            </a:r>
            <a:br>
              <a:rPr lang="en-US" sz="400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4000">
                <a:solidFill>
                  <a:schemeClr val="bg2">
                    <a:lumMod val="10000"/>
                  </a:schemeClr>
                </a:solidFill>
              </a:rPr>
              <a:t>S2 = [ ] ?</a:t>
            </a:r>
            <a:br>
              <a:rPr lang="en-US" sz="400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4000">
                <a:solidFill>
                  <a:schemeClr val="bg2">
                    <a:lumMod val="10000"/>
                  </a:schemeClr>
                </a:solidFill>
              </a:rPr>
              <a:t>  .</a:t>
            </a:r>
            <a:br>
              <a:rPr lang="en-US" sz="400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4000">
                <a:solidFill>
                  <a:schemeClr val="bg2">
                    <a:lumMod val="10000"/>
                  </a:schemeClr>
                </a:solidFill>
              </a:rPr>
              <a:t>  .</a:t>
            </a:r>
            <a:br>
              <a:rPr lang="en-US" sz="400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4000">
                <a:solidFill>
                  <a:schemeClr val="bg2">
                    <a:lumMod val="10000"/>
                  </a:schemeClr>
                </a:solidFill>
              </a:rPr>
              <a:t>  . </a:t>
            </a:r>
          </a:p>
        </p:txBody>
      </p:sp>
      <p:sp>
        <p:nvSpPr>
          <p:cNvPr id="15" name="Slide bullet text">
            <a:extLst>
              <a:ext uri="{FF2B5EF4-FFF2-40B4-BE49-F238E27FC236}">
                <a16:creationId xmlns:a16="http://schemas.microsoft.com/office/drawing/2014/main" id="{704C4E77-5B88-8C21-F0BF-A2B398481D23}"/>
              </a:ext>
            </a:extLst>
          </p:cNvPr>
          <p:cNvSpPr txBox="1">
            <a:spLocks/>
          </p:cNvSpPr>
          <p:nvPr/>
        </p:nvSpPr>
        <p:spPr>
          <a:xfrm>
            <a:off x="1206500" y="5126955"/>
            <a:ext cx="21971000" cy="5280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rmAutofit fontScale="85000" lnSpcReduction="20000"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Mange liker </a:t>
            </a:r>
            <a:r>
              <a:rPr lang="en-US" sz="4000" err="1">
                <a:ea typeface="+mn-lt"/>
                <a:cs typeface="+mn-lt"/>
              </a:rPr>
              <a:t>vafler</a:t>
            </a:r>
            <a:r>
              <a:rPr lang="en-US" sz="4000">
                <a:ea typeface="+mn-lt"/>
                <a:cs typeface="+mn-lt"/>
              </a:rPr>
              <a:t> </a:t>
            </a:r>
            <a:r>
              <a:rPr lang="en-US" sz="4000" err="1">
                <a:ea typeface="+mn-lt"/>
                <a:cs typeface="+mn-lt"/>
              </a:rPr>
              <a:t>i</a:t>
            </a:r>
            <a:r>
              <a:rPr lang="en-US" sz="4000">
                <a:ea typeface="+mn-lt"/>
                <a:cs typeface="+mn-lt"/>
              </a:rPr>
              <a:t> Norge</a:t>
            </a:r>
          </a:p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Det er mange </a:t>
            </a:r>
            <a:r>
              <a:rPr lang="en-US" sz="4000" err="1">
                <a:ea typeface="+mn-lt"/>
                <a:cs typeface="+mn-lt"/>
              </a:rPr>
              <a:t>fjell</a:t>
            </a:r>
            <a:r>
              <a:rPr lang="en-US" sz="4000">
                <a:ea typeface="+mn-lt"/>
                <a:cs typeface="+mn-lt"/>
              </a:rPr>
              <a:t> </a:t>
            </a:r>
            <a:r>
              <a:rPr lang="en-US" sz="4000" err="1">
                <a:ea typeface="+mn-lt"/>
                <a:cs typeface="+mn-lt"/>
              </a:rPr>
              <a:t>i</a:t>
            </a:r>
            <a:r>
              <a:rPr lang="en-US" sz="4000">
                <a:ea typeface="+mn-lt"/>
                <a:cs typeface="+mn-lt"/>
              </a:rPr>
              <a:t> Norge</a:t>
            </a:r>
          </a:p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Mange liker </a:t>
            </a:r>
            <a:r>
              <a:rPr lang="en-US" sz="4000" err="1">
                <a:ea typeface="+mn-lt"/>
                <a:cs typeface="+mn-lt"/>
              </a:rPr>
              <a:t>norsk</a:t>
            </a:r>
            <a:r>
              <a:rPr lang="en-US" sz="4000">
                <a:ea typeface="+mn-lt"/>
                <a:cs typeface="+mn-lt"/>
              </a:rPr>
              <a:t> mat</a:t>
            </a:r>
          </a:p>
          <a:p>
            <a:pPr hangingPunct="1">
              <a:buFont typeface="Arial"/>
              <a:buChar char="•"/>
            </a:pPr>
            <a:r>
              <a:rPr lang="en-US" sz="4000" err="1">
                <a:ea typeface="+mn-lt"/>
                <a:cs typeface="+mn-lt"/>
              </a:rPr>
              <a:t>Vafler</a:t>
            </a:r>
            <a:r>
              <a:rPr lang="en-US" sz="4000">
                <a:ea typeface="+mn-lt"/>
                <a:cs typeface="+mn-lt"/>
              </a:rPr>
              <a:t> er </a:t>
            </a:r>
            <a:r>
              <a:rPr lang="en-US" sz="4000" err="1">
                <a:ea typeface="+mn-lt"/>
                <a:cs typeface="+mn-lt"/>
              </a:rPr>
              <a:t>populær</a:t>
            </a:r>
            <a:r>
              <a:rPr lang="en-US" sz="4000">
                <a:ea typeface="+mn-lt"/>
                <a:cs typeface="+mn-lt"/>
              </a:rPr>
              <a:t> </a:t>
            </a:r>
            <a:r>
              <a:rPr lang="en-US" sz="4000" err="1">
                <a:ea typeface="+mn-lt"/>
                <a:cs typeface="+mn-lt"/>
              </a:rPr>
              <a:t>norsk</a:t>
            </a:r>
            <a:r>
              <a:rPr lang="en-US" sz="4000">
                <a:ea typeface="+mn-lt"/>
                <a:cs typeface="+mn-lt"/>
              </a:rPr>
              <a:t> mat</a:t>
            </a:r>
          </a:p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Mange liker ski </a:t>
            </a:r>
            <a:r>
              <a:rPr lang="en-US" sz="4000" err="1">
                <a:ea typeface="+mn-lt"/>
                <a:cs typeface="+mn-lt"/>
              </a:rPr>
              <a:t>i</a:t>
            </a:r>
            <a:r>
              <a:rPr lang="en-US" sz="4000">
                <a:ea typeface="+mn-lt"/>
                <a:cs typeface="+mn-lt"/>
              </a:rPr>
              <a:t> Norge</a:t>
            </a:r>
          </a:p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Det er mange </a:t>
            </a:r>
            <a:r>
              <a:rPr lang="en-US" sz="4000" err="1">
                <a:ea typeface="+mn-lt"/>
                <a:cs typeface="+mn-lt"/>
              </a:rPr>
              <a:t>fjell</a:t>
            </a:r>
          </a:p>
          <a:p>
            <a:pPr hangingPunct="1">
              <a:lnSpc>
                <a:spcPct val="0"/>
              </a:lnSpc>
              <a:buFont typeface="Arial"/>
              <a:buChar char="•"/>
            </a:pPr>
            <a:endParaRPr lang="en-US" sz="4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3604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ADDA-942D-5E2D-B73D-A3E3C4DF4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presentere tekst som vektorer">
            <a:extLst>
              <a:ext uri="{FF2B5EF4-FFF2-40B4-BE49-F238E27FC236}">
                <a16:creationId xmlns:a16="http://schemas.microsoft.com/office/drawing/2014/main" id="{DDF255F6-F3AB-4294-777C-D8FC93ED71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lang="en-US" err="1"/>
              <a:t>Setningslikhet</a:t>
            </a:r>
            <a:r>
              <a:rPr lang="en-US"/>
              <a:t>: </a:t>
            </a:r>
            <a:r>
              <a:rPr lang="en-US" err="1"/>
              <a:t>refleksjon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8A127-5E79-7CD3-1D62-A96080581970}"/>
              </a:ext>
            </a:extLst>
          </p:cNvPr>
          <p:cNvSpPr txBox="1"/>
          <p:nvPr/>
        </p:nvSpPr>
        <p:spPr>
          <a:xfrm>
            <a:off x="1048126" y="2665365"/>
            <a:ext cx="350580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err="1"/>
              <a:t>Oppgave</a:t>
            </a:r>
            <a:r>
              <a:rPr lang="en-US" sz="3200"/>
              <a:t>:</a:t>
            </a:r>
            <a:endParaRPr lang="en-US" sz="32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AC3187E-65FD-B791-AE58-5786DEA94938}"/>
              </a:ext>
            </a:extLst>
          </p:cNvPr>
          <p:cNvSpPr txBox="1">
            <a:spLocks/>
          </p:cNvSpPr>
          <p:nvPr/>
        </p:nvSpPr>
        <p:spPr>
          <a:xfrm>
            <a:off x="1041503" y="3560943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19" rIns="45719" bIns="45719" anchor="t">
            <a:normAutofit fontScale="92500" lnSpcReduction="20000"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sz="3400" b="0">
                <a:latin typeface="Helvetica Neue"/>
                <a:cs typeface="Arial"/>
              </a:rPr>
              <a:t>4. Se </a:t>
            </a:r>
            <a:r>
              <a:rPr lang="en-US" sz="3400" b="0" err="1">
                <a:latin typeface="Helvetica Neue"/>
                <a:cs typeface="Arial"/>
              </a:rPr>
              <a:t>på</a:t>
            </a:r>
            <a:r>
              <a:rPr lang="en-US" sz="3400" b="0">
                <a:latin typeface="Helvetica Neue"/>
                <a:cs typeface="Arial"/>
              </a:rPr>
              <a:t> </a:t>
            </a:r>
            <a:r>
              <a:rPr lang="en-US" sz="3400" b="0" err="1">
                <a:latin typeface="Helvetica Neue"/>
                <a:cs typeface="Arial"/>
              </a:rPr>
              <a:t>setning</a:t>
            </a:r>
            <a:r>
              <a:rPr lang="en-US" sz="3400" b="0">
                <a:latin typeface="Helvetica Neue"/>
                <a:cs typeface="Arial"/>
              </a:rPr>
              <a:t> 1-6. </a:t>
            </a:r>
            <a:r>
              <a:rPr lang="en-US" sz="3400" b="0" err="1">
                <a:latin typeface="Helvetica Neue"/>
                <a:cs typeface="Arial"/>
              </a:rPr>
              <a:t>Hvilke</a:t>
            </a:r>
            <a:r>
              <a:rPr lang="en-US" sz="3400" b="0">
                <a:latin typeface="Helvetica Neue"/>
                <a:cs typeface="Arial"/>
              </a:rPr>
              <a:t> </a:t>
            </a:r>
            <a:r>
              <a:rPr lang="en-US" sz="3400" b="0" err="1">
                <a:latin typeface="Helvetica Neue"/>
                <a:cs typeface="Arial"/>
              </a:rPr>
              <a:t>setninger</a:t>
            </a:r>
            <a:r>
              <a:rPr lang="en-US" sz="3400" b="0">
                <a:latin typeface="Helvetica Neue"/>
                <a:cs typeface="Arial"/>
              </a:rPr>
              <a:t> </a:t>
            </a:r>
            <a:r>
              <a:rPr lang="en-US" sz="3400" b="0" err="1">
                <a:latin typeface="Helvetica Neue"/>
                <a:cs typeface="Arial"/>
              </a:rPr>
              <a:t>mener</a:t>
            </a:r>
            <a:r>
              <a:rPr lang="en-US" sz="3400" b="0">
                <a:latin typeface="Helvetica Neue"/>
                <a:cs typeface="Arial"/>
              </a:rPr>
              <a:t> du </a:t>
            </a:r>
            <a:r>
              <a:rPr lang="en-US" sz="3400" b="0" err="1">
                <a:latin typeface="Helvetica Neue"/>
                <a:cs typeface="Arial"/>
              </a:rPr>
              <a:t>betyr</a:t>
            </a:r>
            <a:r>
              <a:rPr lang="en-US" sz="3400" b="0">
                <a:latin typeface="Helvetica Neue"/>
                <a:cs typeface="Arial"/>
              </a:rPr>
              <a:t> </a:t>
            </a:r>
            <a:r>
              <a:rPr lang="en-US" sz="3400" b="0" err="1">
                <a:latin typeface="Helvetica Neue"/>
                <a:cs typeface="Arial"/>
              </a:rPr>
              <a:t>omtrent</a:t>
            </a:r>
            <a:r>
              <a:rPr lang="en-US" sz="3400" b="0">
                <a:latin typeface="Helvetica Neue"/>
                <a:cs typeface="Arial"/>
              </a:rPr>
              <a:t> det </a:t>
            </a:r>
            <a:r>
              <a:rPr lang="en-US" sz="3400" b="0" err="1">
                <a:latin typeface="Helvetica Neue"/>
                <a:cs typeface="Arial"/>
              </a:rPr>
              <a:t>sammen</a:t>
            </a:r>
            <a:r>
              <a:rPr lang="en-US" sz="3400" b="0">
                <a:latin typeface="Helvetica Neue"/>
                <a:cs typeface="Arial"/>
              </a:rPr>
              <a:t>, </a:t>
            </a:r>
            <a:r>
              <a:rPr lang="en-US" sz="3400" b="0" err="1">
                <a:latin typeface="Helvetica Neue"/>
                <a:cs typeface="Arial"/>
              </a:rPr>
              <a:t>og</a:t>
            </a:r>
            <a:r>
              <a:rPr lang="en-US" sz="3400" b="0">
                <a:latin typeface="Helvetica Neue"/>
                <a:cs typeface="Arial"/>
              </a:rPr>
              <a:t> </a:t>
            </a:r>
            <a:r>
              <a:rPr lang="en-US" sz="3400" b="0" err="1">
                <a:latin typeface="Helvetica Neue"/>
                <a:cs typeface="Arial"/>
              </a:rPr>
              <a:t>hvilke</a:t>
            </a:r>
            <a:r>
              <a:rPr lang="en-US" sz="3400" b="0">
                <a:latin typeface="Helvetica Neue"/>
                <a:cs typeface="Arial"/>
              </a:rPr>
              <a:t> er </a:t>
            </a:r>
            <a:r>
              <a:rPr lang="en-US" sz="3400" b="0" err="1">
                <a:latin typeface="Helvetica Neue"/>
                <a:cs typeface="Arial"/>
              </a:rPr>
              <a:t>forskjellige</a:t>
            </a:r>
            <a:r>
              <a:rPr lang="en-US" sz="3400" b="0">
                <a:latin typeface="Helvetica Neue"/>
                <a:cs typeface="Arial"/>
              </a:rPr>
              <a:t>? Tenk </a:t>
            </a:r>
            <a:r>
              <a:rPr lang="en-US" sz="3400" b="0" err="1">
                <a:latin typeface="Helvetica Neue"/>
                <a:cs typeface="Arial"/>
              </a:rPr>
              <a:t>selv</a:t>
            </a:r>
            <a:r>
              <a:rPr lang="en-US" sz="3400" b="0">
                <a:latin typeface="Helvetica Neue"/>
                <a:cs typeface="Arial"/>
              </a:rPr>
              <a:t> </a:t>
            </a:r>
            <a:r>
              <a:rPr lang="en-US" sz="3400" b="0" err="1">
                <a:latin typeface="Helvetica Neue"/>
                <a:cs typeface="Arial"/>
              </a:rPr>
              <a:t>i</a:t>
            </a:r>
            <a:r>
              <a:rPr lang="en-US" sz="3400" b="0">
                <a:latin typeface="Helvetica Neue"/>
                <a:cs typeface="Arial"/>
              </a:rPr>
              <a:t> 30 </a:t>
            </a:r>
            <a:r>
              <a:rPr lang="en-US" sz="3400" b="0" err="1">
                <a:latin typeface="Helvetica Neue"/>
                <a:cs typeface="Arial"/>
              </a:rPr>
              <a:t>sekunder</a:t>
            </a:r>
            <a:r>
              <a:rPr lang="en-US" sz="3400" b="0">
                <a:latin typeface="Helvetica Neue"/>
                <a:cs typeface="Arial"/>
              </a:rPr>
              <a:t>, </a:t>
            </a:r>
            <a:r>
              <a:rPr lang="en-US" sz="3400" b="0" err="1">
                <a:latin typeface="Helvetica Neue"/>
                <a:cs typeface="Arial"/>
              </a:rPr>
              <a:t>så</a:t>
            </a:r>
            <a:r>
              <a:rPr lang="en-US" sz="3400" b="0">
                <a:latin typeface="Helvetica Neue"/>
                <a:cs typeface="Arial"/>
              </a:rPr>
              <a:t> </a:t>
            </a:r>
            <a:r>
              <a:rPr lang="en-US" sz="3400" b="0" err="1">
                <a:latin typeface="Helvetica Neue"/>
                <a:cs typeface="Arial"/>
              </a:rPr>
              <a:t>diskuter</a:t>
            </a:r>
            <a:r>
              <a:rPr lang="en-US" sz="3400" b="0">
                <a:latin typeface="Helvetica Neue"/>
                <a:cs typeface="Arial"/>
              </a:rPr>
              <a:t> med partner.</a:t>
            </a:r>
          </a:p>
        </p:txBody>
      </p:sp>
      <p:sp>
        <p:nvSpPr>
          <p:cNvPr id="9" name="Slide bullet text">
            <a:extLst>
              <a:ext uri="{FF2B5EF4-FFF2-40B4-BE49-F238E27FC236}">
                <a16:creationId xmlns:a16="http://schemas.microsoft.com/office/drawing/2014/main" id="{5D0D1821-11B1-1081-D1F6-FE3BC925DE54}"/>
              </a:ext>
            </a:extLst>
          </p:cNvPr>
          <p:cNvSpPr txBox="1">
            <a:spLocks/>
          </p:cNvSpPr>
          <p:nvPr/>
        </p:nvSpPr>
        <p:spPr>
          <a:xfrm>
            <a:off x="1206500" y="5126955"/>
            <a:ext cx="21971000" cy="5280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rmAutofit fontScale="85000" lnSpcReduction="20000"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Mange liker </a:t>
            </a:r>
            <a:r>
              <a:rPr lang="en-US" sz="4000" err="1">
                <a:ea typeface="+mn-lt"/>
                <a:cs typeface="+mn-lt"/>
              </a:rPr>
              <a:t>vafler</a:t>
            </a:r>
            <a:r>
              <a:rPr lang="en-US" sz="4000">
                <a:ea typeface="+mn-lt"/>
                <a:cs typeface="+mn-lt"/>
              </a:rPr>
              <a:t> </a:t>
            </a:r>
            <a:r>
              <a:rPr lang="en-US" sz="4000" err="1">
                <a:ea typeface="+mn-lt"/>
                <a:cs typeface="+mn-lt"/>
              </a:rPr>
              <a:t>i</a:t>
            </a:r>
            <a:r>
              <a:rPr lang="en-US" sz="4000">
                <a:ea typeface="+mn-lt"/>
                <a:cs typeface="+mn-lt"/>
              </a:rPr>
              <a:t> Norge</a:t>
            </a:r>
          </a:p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Det er mange </a:t>
            </a:r>
            <a:r>
              <a:rPr lang="en-US" sz="4000" err="1">
                <a:ea typeface="+mn-lt"/>
                <a:cs typeface="+mn-lt"/>
              </a:rPr>
              <a:t>fjell</a:t>
            </a:r>
            <a:r>
              <a:rPr lang="en-US" sz="4000">
                <a:ea typeface="+mn-lt"/>
                <a:cs typeface="+mn-lt"/>
              </a:rPr>
              <a:t> </a:t>
            </a:r>
            <a:r>
              <a:rPr lang="en-US" sz="4000" err="1">
                <a:ea typeface="+mn-lt"/>
                <a:cs typeface="+mn-lt"/>
              </a:rPr>
              <a:t>i</a:t>
            </a:r>
            <a:r>
              <a:rPr lang="en-US" sz="4000">
                <a:ea typeface="+mn-lt"/>
                <a:cs typeface="+mn-lt"/>
              </a:rPr>
              <a:t> Norge</a:t>
            </a:r>
          </a:p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Mange liker </a:t>
            </a:r>
            <a:r>
              <a:rPr lang="en-US" sz="4000" err="1">
                <a:ea typeface="+mn-lt"/>
                <a:cs typeface="+mn-lt"/>
              </a:rPr>
              <a:t>norsk</a:t>
            </a:r>
            <a:r>
              <a:rPr lang="en-US" sz="4000">
                <a:ea typeface="+mn-lt"/>
                <a:cs typeface="+mn-lt"/>
              </a:rPr>
              <a:t> mat</a:t>
            </a:r>
          </a:p>
          <a:p>
            <a:pPr hangingPunct="1">
              <a:buFont typeface="Arial"/>
              <a:buChar char="•"/>
            </a:pPr>
            <a:r>
              <a:rPr lang="en-US" sz="4000" err="1">
                <a:ea typeface="+mn-lt"/>
                <a:cs typeface="+mn-lt"/>
              </a:rPr>
              <a:t>Vafler</a:t>
            </a:r>
            <a:r>
              <a:rPr lang="en-US" sz="4000">
                <a:ea typeface="+mn-lt"/>
                <a:cs typeface="+mn-lt"/>
              </a:rPr>
              <a:t> er </a:t>
            </a:r>
            <a:r>
              <a:rPr lang="en-US" sz="4000" err="1">
                <a:ea typeface="+mn-lt"/>
                <a:cs typeface="+mn-lt"/>
              </a:rPr>
              <a:t>populær</a:t>
            </a:r>
            <a:r>
              <a:rPr lang="en-US" sz="4000">
                <a:ea typeface="+mn-lt"/>
                <a:cs typeface="+mn-lt"/>
              </a:rPr>
              <a:t> </a:t>
            </a:r>
            <a:r>
              <a:rPr lang="en-US" sz="4000" err="1">
                <a:ea typeface="+mn-lt"/>
                <a:cs typeface="+mn-lt"/>
              </a:rPr>
              <a:t>norsk</a:t>
            </a:r>
            <a:r>
              <a:rPr lang="en-US" sz="4000">
                <a:ea typeface="+mn-lt"/>
                <a:cs typeface="+mn-lt"/>
              </a:rPr>
              <a:t> mat</a:t>
            </a:r>
          </a:p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Mange liker ski </a:t>
            </a:r>
            <a:r>
              <a:rPr lang="en-US" sz="4000" err="1">
                <a:ea typeface="+mn-lt"/>
                <a:cs typeface="+mn-lt"/>
              </a:rPr>
              <a:t>i</a:t>
            </a:r>
            <a:r>
              <a:rPr lang="en-US" sz="4000">
                <a:ea typeface="+mn-lt"/>
                <a:cs typeface="+mn-lt"/>
              </a:rPr>
              <a:t> Norge</a:t>
            </a:r>
          </a:p>
          <a:p>
            <a:pPr hangingPunct="1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Det er mange </a:t>
            </a:r>
            <a:r>
              <a:rPr lang="en-US" sz="4000" err="1">
                <a:ea typeface="+mn-lt"/>
                <a:cs typeface="+mn-lt"/>
              </a:rPr>
              <a:t>fjell</a:t>
            </a:r>
          </a:p>
          <a:p>
            <a:pPr hangingPunct="1">
              <a:lnSpc>
                <a:spcPct val="0"/>
              </a:lnSpc>
              <a:buFont typeface="Arial"/>
              <a:buChar char="•"/>
            </a:pPr>
            <a:endParaRPr lang="en-US" sz="4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777940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02DF6-A3DB-779A-F314-B5B3783D6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presentere tekst som vektorer">
            <a:extLst>
              <a:ext uri="{FF2B5EF4-FFF2-40B4-BE49-F238E27FC236}">
                <a16:creationId xmlns:a16="http://schemas.microsoft.com/office/drawing/2014/main" id="{2E3FA17F-5291-8FB9-1C87-AD46C5679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Setningslikhet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b="0" err="1">
                <a:ea typeface="+mn-lt"/>
                <a:cs typeface="+mn-lt"/>
              </a:rPr>
              <a:t>beregninger</a:t>
            </a:r>
            <a:r>
              <a:rPr lang="en-US">
                <a:latin typeface="Helvetica Neue"/>
                <a:ea typeface="+mn-lt"/>
                <a:cs typeface="+mn-lt"/>
              </a:rPr>
              <a:t> </a:t>
            </a:r>
            <a:endParaRPr lang="en-US" err="1"/>
          </a:p>
        </p:txBody>
      </p:sp>
      <p:sp>
        <p:nvSpPr>
          <p:cNvPr id="195" name="Slide bullet text">
            <a:extLst>
              <a:ext uri="{FF2B5EF4-FFF2-40B4-BE49-F238E27FC236}">
                <a16:creationId xmlns:a16="http://schemas.microsoft.com/office/drawing/2014/main" id="{0A4B7063-B4E7-C128-73DF-607EBABDE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500" y="5221793"/>
            <a:ext cx="21971000" cy="2384086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>
              <a:lnSpc>
                <a:spcPct val="0"/>
              </a:lnSpc>
            </a:pPr>
            <a:r>
              <a:rPr lang="en-US" sz="3400">
                <a:latin typeface="Helvetica Neue"/>
                <a:cs typeface="Arial"/>
              </a:rPr>
              <a:t>Mange liker </a:t>
            </a:r>
            <a:r>
              <a:rPr lang="en-US" sz="3400" err="1">
                <a:latin typeface="Helvetica Neue"/>
                <a:cs typeface="Arial"/>
              </a:rPr>
              <a:t>vafler</a:t>
            </a:r>
            <a:r>
              <a:rPr lang="en-US" sz="3400">
                <a:latin typeface="Helvetica Neue"/>
                <a:cs typeface="Arial"/>
              </a:rPr>
              <a:t> </a:t>
            </a:r>
            <a:r>
              <a:rPr lang="en-US" sz="3400" err="1">
                <a:latin typeface="Helvetica Neue"/>
                <a:cs typeface="Arial"/>
              </a:rPr>
              <a:t>i</a:t>
            </a:r>
            <a:r>
              <a:rPr lang="en-US" sz="3400">
                <a:latin typeface="Helvetica Neue"/>
                <a:cs typeface="Arial"/>
              </a:rPr>
              <a:t> Norge</a:t>
            </a:r>
            <a:endParaRPr lang="en-US" sz="4000">
              <a:solidFill>
                <a:srgbClr val="5E5E5E"/>
              </a:solidFill>
              <a:latin typeface="Helvetica Neue"/>
              <a:cs typeface="Arial"/>
            </a:endParaRPr>
          </a:p>
          <a:p>
            <a:pPr>
              <a:lnSpc>
                <a:spcPct val="0"/>
              </a:lnSpc>
            </a:pPr>
            <a:r>
              <a:rPr lang="en-US" sz="3400">
                <a:latin typeface="Helvetica Neue"/>
                <a:cs typeface="Arial"/>
              </a:rPr>
              <a:t>Det er mange </a:t>
            </a:r>
            <a:r>
              <a:rPr lang="en-US" sz="3400" err="1">
                <a:latin typeface="Helvetica Neue"/>
                <a:cs typeface="Arial"/>
              </a:rPr>
              <a:t>fjell</a:t>
            </a:r>
            <a:r>
              <a:rPr lang="en-US" sz="3400">
                <a:latin typeface="Helvetica Neue"/>
                <a:cs typeface="Arial"/>
              </a:rPr>
              <a:t> </a:t>
            </a:r>
            <a:r>
              <a:rPr lang="en-US" sz="3400" err="1">
                <a:latin typeface="Helvetica Neue"/>
                <a:cs typeface="Arial"/>
              </a:rPr>
              <a:t>i</a:t>
            </a:r>
            <a:r>
              <a:rPr lang="en-US" sz="3400">
                <a:latin typeface="Helvetica Neue"/>
                <a:cs typeface="Arial"/>
              </a:rPr>
              <a:t> Norge</a:t>
            </a:r>
            <a:endParaRPr lang="en-US" sz="3400">
              <a:solidFill>
                <a:srgbClr val="5E5E5E"/>
              </a:solidFill>
              <a:latin typeface="Helvetica Neue"/>
              <a:cs typeface="Arial"/>
            </a:endParaRPr>
          </a:p>
          <a:p>
            <a:pPr>
              <a:lnSpc>
                <a:spcPct val="0"/>
              </a:lnSpc>
            </a:pPr>
            <a:r>
              <a:rPr lang="en-US" sz="3400" err="1">
                <a:latin typeface="Helvetica Neue"/>
                <a:cs typeface="Arial"/>
              </a:rPr>
              <a:t>Vafler</a:t>
            </a:r>
            <a:r>
              <a:rPr lang="en-US" sz="3400">
                <a:latin typeface="Helvetica Neue"/>
                <a:cs typeface="Arial"/>
              </a:rPr>
              <a:t> er </a:t>
            </a:r>
            <a:r>
              <a:rPr lang="en-US" sz="3400" err="1">
                <a:latin typeface="Helvetica Neue"/>
                <a:cs typeface="Arial"/>
              </a:rPr>
              <a:t>populær</a:t>
            </a:r>
            <a:r>
              <a:rPr lang="en-US" sz="3400">
                <a:latin typeface="Helvetica Neue"/>
                <a:cs typeface="Arial"/>
              </a:rPr>
              <a:t> </a:t>
            </a:r>
            <a:r>
              <a:rPr lang="en-US" sz="3400" err="1">
                <a:latin typeface="Helvetica Neue"/>
                <a:cs typeface="Arial"/>
              </a:rPr>
              <a:t>norsk</a:t>
            </a:r>
            <a:r>
              <a:rPr lang="en-US" sz="3400">
                <a:latin typeface="Helvetica Neue"/>
                <a:cs typeface="Arial"/>
              </a:rPr>
              <a:t> mat</a:t>
            </a:r>
            <a:endParaRPr lang="en-US" sz="4000"/>
          </a:p>
          <a:p>
            <a:pPr>
              <a:buFont typeface="Arial,Sans-Serif"/>
            </a:pPr>
            <a:endParaRPr lang="en-US" sz="3400">
              <a:latin typeface="Helvetica Neue"/>
              <a:cs typeface="Arial"/>
            </a:endParaRPr>
          </a:p>
          <a:p>
            <a:pPr>
              <a:lnSpc>
                <a:spcPct val="100000"/>
              </a:lnSpc>
            </a:pP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7002A-B7E8-E0B9-5E60-ED5277D2DF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41503" y="3560943"/>
            <a:ext cx="21971000" cy="934780"/>
          </a:xfrm>
        </p:spPr>
        <p:txBody>
          <a:bodyPr lIns="45719" tIns="45719" rIns="45719" bIns="45719" anchor="t">
            <a:normAutofit fontScale="62500" lnSpcReduction="20000"/>
          </a:bodyPr>
          <a:lstStyle/>
          <a:p>
            <a:r>
              <a:rPr lang="en-US" b="0">
                <a:ea typeface="+mn-lt"/>
                <a:cs typeface="+mn-lt"/>
              </a:rPr>
              <a:t>Ved å </a:t>
            </a:r>
            <a:r>
              <a:rPr lang="en-US" b="0" err="1">
                <a:ea typeface="+mn-lt"/>
                <a:cs typeface="+mn-lt"/>
              </a:rPr>
              <a:t>bruke</a:t>
            </a:r>
            <a:r>
              <a:rPr lang="en-US" b="0">
                <a:ea typeface="+mn-lt"/>
                <a:cs typeface="+mn-lt"/>
              </a:rPr>
              <a:t> vokabularet og bag-of-words-representasjonene fra forrige oppgave, se </a:t>
            </a:r>
            <a:r>
              <a:rPr lang="en-US" b="0" err="1">
                <a:ea typeface="+mn-lt"/>
                <a:cs typeface="+mn-lt"/>
              </a:rPr>
              <a:t>på</a:t>
            </a:r>
            <a:r>
              <a:rPr lang="en-US" b="0">
                <a:ea typeface="+mn-lt"/>
                <a:cs typeface="+mn-lt"/>
              </a:rPr>
              <a:t> </a:t>
            </a:r>
            <a:r>
              <a:rPr lang="en-US" b="0" err="1">
                <a:ea typeface="+mn-lt"/>
                <a:cs typeface="+mn-lt"/>
              </a:rPr>
              <a:t>følgende</a:t>
            </a:r>
            <a:r>
              <a:rPr lang="en-US" b="0">
                <a:ea typeface="+mn-lt"/>
                <a:cs typeface="+mn-lt"/>
              </a:rPr>
              <a:t> </a:t>
            </a:r>
            <a:r>
              <a:rPr lang="en-US" b="0" err="1">
                <a:ea typeface="+mn-lt"/>
                <a:cs typeface="+mn-lt"/>
              </a:rPr>
              <a:t>setninger</a:t>
            </a:r>
            <a:endParaRPr lang="en-US" err="1"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E6583-3BCB-6544-4AAC-3DB6025FBE6D}"/>
              </a:ext>
            </a:extLst>
          </p:cNvPr>
          <p:cNvSpPr txBox="1"/>
          <p:nvPr/>
        </p:nvSpPr>
        <p:spPr>
          <a:xfrm>
            <a:off x="1048126" y="2665365"/>
            <a:ext cx="350580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err="1"/>
              <a:t>Oppgave</a:t>
            </a:r>
            <a:r>
              <a:rPr lang="en-US" sz="3200"/>
              <a:t>:</a:t>
            </a:r>
            <a:endParaRPr lang="en-US" sz="32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F2E785B-E25F-9CA0-B30F-C19A8624C300}"/>
              </a:ext>
            </a:extLst>
          </p:cNvPr>
          <p:cNvSpPr txBox="1">
            <a:spLocks/>
          </p:cNvSpPr>
          <p:nvPr/>
        </p:nvSpPr>
        <p:spPr>
          <a:xfrm>
            <a:off x="1205487" y="8439802"/>
            <a:ext cx="21971000" cy="3168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19" rIns="45719" bIns="45719" anchor="t">
            <a:no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400" b="0" err="1">
                <a:ea typeface="+mn-lt"/>
                <a:cs typeface="+mn-lt"/>
              </a:rPr>
              <a:t>Beregn</a:t>
            </a:r>
            <a:r>
              <a:rPr lang="en-US" sz="3400" b="0">
                <a:ea typeface="+mn-lt"/>
                <a:cs typeface="+mn-lt"/>
              </a:rPr>
              <a:t> </a:t>
            </a:r>
            <a:r>
              <a:rPr lang="en-US" sz="3400" err="1">
                <a:ea typeface="+mn-lt"/>
                <a:cs typeface="+mn-lt"/>
              </a:rPr>
              <a:t>cosinus-likhet</a:t>
            </a:r>
            <a:r>
              <a:rPr lang="en-US" sz="3400" b="0">
                <a:ea typeface="+mn-lt"/>
                <a:cs typeface="+mn-lt"/>
              </a:rPr>
              <a:t> </a:t>
            </a:r>
            <a:r>
              <a:rPr lang="en-US" sz="3400" b="0" err="1">
                <a:ea typeface="+mn-lt"/>
                <a:cs typeface="+mn-lt"/>
              </a:rPr>
              <a:t>mellom</a:t>
            </a:r>
            <a:r>
              <a:rPr lang="en-US" sz="3400" b="0">
                <a:ea typeface="+mn-lt"/>
                <a:cs typeface="+mn-lt"/>
              </a:rPr>
              <a:t>:</a:t>
            </a:r>
            <a:endParaRPr lang="en-US" sz="3400"/>
          </a:p>
          <a:p>
            <a:pPr marL="285750" indent="-285750">
              <a:buFont typeface="Arial"/>
              <a:buChar char="•"/>
            </a:pPr>
            <a:r>
              <a:rPr lang="en-US" sz="3400" b="0">
                <a:ea typeface="+mn-lt"/>
                <a:cs typeface="+mn-lt"/>
              </a:rPr>
              <a:t>"Mange liker </a:t>
            </a:r>
            <a:r>
              <a:rPr lang="en-US" sz="3400" b="0" err="1">
                <a:ea typeface="+mn-lt"/>
                <a:cs typeface="+mn-lt"/>
              </a:rPr>
              <a:t>vafler</a:t>
            </a:r>
            <a:r>
              <a:rPr lang="en-US" sz="3400" b="0">
                <a:ea typeface="+mn-lt"/>
                <a:cs typeface="+mn-lt"/>
              </a:rPr>
              <a:t> </a:t>
            </a:r>
            <a:r>
              <a:rPr lang="en-US" sz="3400" b="0" err="1">
                <a:ea typeface="+mn-lt"/>
                <a:cs typeface="+mn-lt"/>
              </a:rPr>
              <a:t>i</a:t>
            </a:r>
            <a:r>
              <a:rPr lang="en-US" sz="3400" b="0">
                <a:ea typeface="+mn-lt"/>
                <a:cs typeface="+mn-lt"/>
              </a:rPr>
              <a:t> Norge" </a:t>
            </a:r>
            <a:r>
              <a:rPr lang="en-US" sz="3400" b="0" err="1">
                <a:ea typeface="+mn-lt"/>
                <a:cs typeface="+mn-lt"/>
              </a:rPr>
              <a:t>og</a:t>
            </a:r>
            <a:r>
              <a:rPr lang="en-US" sz="3400" b="0">
                <a:ea typeface="+mn-lt"/>
                <a:cs typeface="+mn-lt"/>
              </a:rPr>
              <a:t> "Det er mange </a:t>
            </a:r>
            <a:r>
              <a:rPr lang="en-US" sz="3400" b="0" err="1">
                <a:ea typeface="+mn-lt"/>
                <a:cs typeface="+mn-lt"/>
              </a:rPr>
              <a:t>fjell</a:t>
            </a:r>
            <a:r>
              <a:rPr lang="en-US" sz="3400" b="0">
                <a:ea typeface="+mn-lt"/>
                <a:cs typeface="+mn-lt"/>
              </a:rPr>
              <a:t> </a:t>
            </a:r>
            <a:r>
              <a:rPr lang="en-US" sz="3400" b="0" err="1">
                <a:ea typeface="+mn-lt"/>
                <a:cs typeface="+mn-lt"/>
              </a:rPr>
              <a:t>i</a:t>
            </a:r>
            <a:r>
              <a:rPr lang="en-US" sz="3400" b="0">
                <a:ea typeface="+mn-lt"/>
                <a:cs typeface="+mn-lt"/>
              </a:rPr>
              <a:t> Norge"</a:t>
            </a:r>
            <a:endParaRPr lang="en-US" sz="3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3400" b="0">
                <a:ea typeface="+mn-lt"/>
                <a:cs typeface="+mn-lt"/>
              </a:rPr>
              <a:t>"Mange liker </a:t>
            </a:r>
            <a:r>
              <a:rPr lang="en-US" sz="3400" b="0" err="1">
                <a:ea typeface="+mn-lt"/>
                <a:cs typeface="+mn-lt"/>
              </a:rPr>
              <a:t>vafler</a:t>
            </a:r>
            <a:r>
              <a:rPr lang="en-US" sz="3400" b="0">
                <a:ea typeface="+mn-lt"/>
                <a:cs typeface="+mn-lt"/>
              </a:rPr>
              <a:t> </a:t>
            </a:r>
            <a:r>
              <a:rPr lang="en-US" sz="3400" b="0" err="1">
                <a:ea typeface="+mn-lt"/>
                <a:cs typeface="+mn-lt"/>
              </a:rPr>
              <a:t>i</a:t>
            </a:r>
            <a:r>
              <a:rPr lang="en-US" sz="3400" b="0">
                <a:ea typeface="+mn-lt"/>
                <a:cs typeface="+mn-lt"/>
              </a:rPr>
              <a:t> Norge" </a:t>
            </a:r>
            <a:r>
              <a:rPr lang="en-US" sz="3400" b="0" err="1">
                <a:ea typeface="+mn-lt"/>
                <a:cs typeface="+mn-lt"/>
              </a:rPr>
              <a:t>og</a:t>
            </a:r>
            <a:r>
              <a:rPr lang="en-US" sz="3400" b="0">
                <a:ea typeface="+mn-lt"/>
                <a:cs typeface="+mn-lt"/>
              </a:rPr>
              <a:t> "</a:t>
            </a:r>
            <a:r>
              <a:rPr lang="en-US" sz="3400" b="0" err="1">
                <a:ea typeface="+mn-lt"/>
                <a:cs typeface="+mn-lt"/>
              </a:rPr>
              <a:t>Vafler</a:t>
            </a:r>
            <a:r>
              <a:rPr lang="en-US" sz="3400" b="0">
                <a:ea typeface="+mn-lt"/>
                <a:cs typeface="+mn-lt"/>
              </a:rPr>
              <a:t> er </a:t>
            </a:r>
            <a:r>
              <a:rPr lang="en-US" sz="3400" b="0" err="1">
                <a:ea typeface="+mn-lt"/>
                <a:cs typeface="+mn-lt"/>
              </a:rPr>
              <a:t>populær</a:t>
            </a:r>
            <a:r>
              <a:rPr lang="en-US" sz="3400" b="0">
                <a:ea typeface="+mn-lt"/>
                <a:cs typeface="+mn-lt"/>
              </a:rPr>
              <a:t> </a:t>
            </a:r>
            <a:r>
              <a:rPr lang="en-US" sz="3400" b="0" err="1">
                <a:ea typeface="+mn-lt"/>
                <a:cs typeface="+mn-lt"/>
              </a:rPr>
              <a:t>norsk</a:t>
            </a:r>
            <a:r>
              <a:rPr lang="en-US" sz="3400" b="0">
                <a:ea typeface="+mn-lt"/>
                <a:cs typeface="+mn-lt"/>
              </a:rPr>
              <a:t> mat"</a:t>
            </a:r>
            <a:endParaRPr lang="en-US" sz="3400"/>
          </a:p>
          <a:p>
            <a:pPr marL="285750" indent="-285750">
              <a:buFont typeface="Arial"/>
              <a:buChar char="•"/>
            </a:pPr>
            <a:endParaRPr lang="en-US" sz="3400" b="0"/>
          </a:p>
          <a:p>
            <a:r>
              <a:rPr lang="en-US" sz="3400" b="0" err="1">
                <a:ea typeface="+mn-lt"/>
                <a:cs typeface="+mn-lt"/>
              </a:rPr>
              <a:t>Sammenlikn</a:t>
            </a:r>
            <a:r>
              <a:rPr lang="en-US" sz="3400" b="0">
                <a:ea typeface="+mn-lt"/>
                <a:cs typeface="+mn-lt"/>
              </a:rPr>
              <a:t> </a:t>
            </a:r>
            <a:r>
              <a:rPr lang="en-US" sz="3400" b="0" err="1">
                <a:ea typeface="+mn-lt"/>
                <a:cs typeface="+mn-lt"/>
              </a:rPr>
              <a:t>svaret</a:t>
            </a:r>
            <a:r>
              <a:rPr lang="en-US" sz="3400" b="0">
                <a:ea typeface="+mn-lt"/>
                <a:cs typeface="+mn-lt"/>
              </a:rPr>
              <a:t> med </a:t>
            </a:r>
            <a:r>
              <a:rPr lang="en-US" sz="3400" b="0" err="1">
                <a:ea typeface="+mn-lt"/>
                <a:cs typeface="+mn-lt"/>
              </a:rPr>
              <a:t>personen</a:t>
            </a:r>
            <a:r>
              <a:rPr lang="en-US" sz="3400" b="0">
                <a:ea typeface="+mn-lt"/>
                <a:cs typeface="+mn-lt"/>
              </a:rPr>
              <a:t> </a:t>
            </a:r>
            <a:r>
              <a:rPr lang="en-US" sz="3400" b="0" err="1">
                <a:ea typeface="+mn-lt"/>
                <a:cs typeface="+mn-lt"/>
              </a:rPr>
              <a:t>ved</a:t>
            </a:r>
            <a:r>
              <a:rPr lang="en-US" sz="3400" b="0">
                <a:ea typeface="+mn-lt"/>
                <a:cs typeface="+mn-lt"/>
              </a:rPr>
              <a:t> </a:t>
            </a:r>
            <a:r>
              <a:rPr lang="en-US" sz="3400" b="0" err="1">
                <a:ea typeface="+mn-lt"/>
                <a:cs typeface="+mn-lt"/>
              </a:rPr>
              <a:t>siden</a:t>
            </a:r>
            <a:r>
              <a:rPr lang="en-US" sz="3400" b="0">
                <a:ea typeface="+mn-lt"/>
                <a:cs typeface="+mn-lt"/>
              </a:rPr>
              <a:t> av deg.</a:t>
            </a:r>
          </a:p>
          <a:p>
            <a:endParaRPr lang="en-US" sz="3400" b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494261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00214-8944-EC3A-F469-68F8ADDB8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presentere tekst som vektorer">
            <a:extLst>
              <a:ext uri="{FF2B5EF4-FFF2-40B4-BE49-F238E27FC236}">
                <a16:creationId xmlns:a16="http://schemas.microsoft.com/office/drawing/2014/main" id="{3F0C22DE-3280-7B09-6391-8FF3C3ED1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Setningslikhet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b="0" err="1">
                <a:ea typeface="+mn-lt"/>
                <a:cs typeface="+mn-lt"/>
              </a:rPr>
              <a:t>diskusjon</a:t>
            </a:r>
            <a:endParaRPr lang="en-US" err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FA60D-315B-2A99-6DF4-FBB02FD7A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951045"/>
            <a:ext cx="21971000" cy="8256012"/>
          </a:xfrm>
        </p:spPr>
        <p:txBody>
          <a:bodyPr lIns="50800" tIns="50800" rIns="50800" bIns="50800" anchor="t">
            <a:normAutofit/>
          </a:bodyPr>
          <a:lstStyle/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Tenk </a:t>
            </a:r>
            <a:r>
              <a:rPr lang="en-GB" err="1">
                <a:ea typeface="+mn-lt"/>
                <a:cs typeface="+mn-lt"/>
              </a:rPr>
              <a:t>individuelt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i</a:t>
            </a:r>
            <a:r>
              <a:rPr lang="en-GB">
                <a:ea typeface="+mn-lt"/>
                <a:cs typeface="+mn-lt"/>
              </a:rPr>
              <a:t> 2 </a:t>
            </a:r>
            <a:r>
              <a:rPr lang="en-GB" err="1">
                <a:ea typeface="+mn-lt"/>
                <a:cs typeface="+mn-lt"/>
              </a:rPr>
              <a:t>minutter</a:t>
            </a:r>
            <a:r>
              <a:rPr lang="en-GB">
                <a:ea typeface="+mn-lt"/>
                <a:cs typeface="+mn-lt"/>
              </a:rPr>
              <a:t>, </a:t>
            </a:r>
            <a:r>
              <a:rPr lang="en-GB" err="1">
                <a:ea typeface="+mn-lt"/>
                <a:cs typeface="+mn-lt"/>
              </a:rPr>
              <a:t>og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diskuter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deretter</a:t>
            </a:r>
            <a:r>
              <a:rPr lang="en-GB">
                <a:ea typeface="+mn-lt"/>
                <a:cs typeface="+mn-lt"/>
              </a:rPr>
              <a:t> med </a:t>
            </a:r>
            <a:r>
              <a:rPr lang="en-GB" err="1">
                <a:ea typeface="+mn-lt"/>
                <a:cs typeface="+mn-lt"/>
              </a:rPr>
              <a:t>personen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ved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siden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av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deg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i</a:t>
            </a:r>
            <a:r>
              <a:rPr lang="en-GB">
                <a:ea typeface="+mn-lt"/>
                <a:cs typeface="+mn-lt"/>
              </a:rPr>
              <a:t> 8 </a:t>
            </a:r>
            <a:r>
              <a:rPr lang="en-GB" err="1">
                <a:ea typeface="+mn-lt"/>
                <a:cs typeface="+mn-lt"/>
              </a:rPr>
              <a:t>minutter</a:t>
            </a:r>
            <a:r>
              <a:rPr lang="en-GB">
                <a:ea typeface="+mn-lt"/>
                <a:cs typeface="+mn-lt"/>
              </a:rPr>
              <a:t>:</a:t>
            </a:r>
          </a:p>
          <a:p>
            <a:pPr>
              <a:buFont typeface="Arial"/>
              <a:buChar char="•"/>
            </a:pPr>
            <a:r>
              <a:rPr lang="en-GB" err="1">
                <a:ea typeface="+mn-lt"/>
                <a:cs typeface="+mn-lt"/>
              </a:rPr>
              <a:t>Hvilken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av</a:t>
            </a:r>
            <a:r>
              <a:rPr lang="en-GB">
                <a:ea typeface="+mn-lt"/>
                <a:cs typeface="+mn-lt"/>
              </a:rPr>
              <a:t> de to </a:t>
            </a:r>
            <a:r>
              <a:rPr lang="en-GB" err="1">
                <a:ea typeface="+mn-lt"/>
                <a:cs typeface="+mn-lt"/>
              </a:rPr>
              <a:t>setningene</a:t>
            </a:r>
            <a:r>
              <a:rPr lang="en-GB">
                <a:ea typeface="+mn-lt"/>
                <a:cs typeface="+mn-lt"/>
              </a:rPr>
              <a:t> (S2 </a:t>
            </a:r>
            <a:r>
              <a:rPr lang="en-GB" err="1">
                <a:ea typeface="+mn-lt"/>
                <a:cs typeface="+mn-lt"/>
              </a:rPr>
              <a:t>eller</a:t>
            </a:r>
            <a:r>
              <a:rPr lang="en-GB">
                <a:ea typeface="+mn-lt"/>
                <a:cs typeface="+mn-lt"/>
              </a:rPr>
              <a:t> S4) er </a:t>
            </a:r>
            <a:r>
              <a:rPr lang="en-GB" err="1">
                <a:ea typeface="+mn-lt"/>
                <a:cs typeface="+mn-lt"/>
              </a:rPr>
              <a:t>likest</a:t>
            </a:r>
            <a:r>
              <a:rPr lang="en-GB">
                <a:ea typeface="+mn-lt"/>
                <a:cs typeface="+mn-lt"/>
              </a:rPr>
              <a:t> "</a:t>
            </a:r>
            <a:r>
              <a:rPr lang="en-US">
                <a:ea typeface="+mn-lt"/>
                <a:cs typeface="+mn-lt"/>
              </a:rPr>
              <a:t>Mange liker </a:t>
            </a:r>
            <a:r>
              <a:rPr lang="en-US" err="1">
                <a:ea typeface="+mn-lt"/>
                <a:cs typeface="+mn-lt"/>
              </a:rPr>
              <a:t>vafler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Norge</a:t>
            </a:r>
            <a:r>
              <a:rPr lang="en-GB">
                <a:ea typeface="+mn-lt"/>
                <a:cs typeface="+mn-lt"/>
              </a:rPr>
              <a:t>"? </a:t>
            </a:r>
          </a:p>
          <a:p>
            <a:pPr>
              <a:buFont typeface="Arial"/>
              <a:buChar char="•"/>
            </a:pPr>
            <a:r>
              <a:rPr lang="en-GB" err="1">
                <a:ea typeface="+mn-lt"/>
                <a:cs typeface="+mn-lt"/>
              </a:rPr>
              <a:t>Hva</a:t>
            </a:r>
            <a:r>
              <a:rPr lang="en-GB">
                <a:ea typeface="+mn-lt"/>
                <a:cs typeface="+mn-lt"/>
              </a:rPr>
              <a:t> er </a:t>
            </a:r>
            <a:r>
              <a:rPr lang="en-GB" err="1">
                <a:ea typeface="+mn-lt"/>
                <a:cs typeface="+mn-lt"/>
              </a:rPr>
              <a:t>mulige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forklaringer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på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dette</a:t>
            </a:r>
            <a:r>
              <a:rPr lang="en-GB">
                <a:ea typeface="+mn-lt"/>
                <a:cs typeface="+mn-lt"/>
              </a:rPr>
              <a:t>?</a:t>
            </a:r>
            <a:endParaRPr lang="en-GB"/>
          </a:p>
          <a:p>
            <a:pPr>
              <a:buFont typeface="Arial"/>
              <a:buChar char="•"/>
            </a:pPr>
            <a:r>
              <a:rPr lang="en-GB" err="1">
                <a:ea typeface="+mn-lt"/>
                <a:cs typeface="+mn-lt"/>
              </a:rPr>
              <a:t>Hvordan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kunne</a:t>
            </a:r>
            <a:r>
              <a:rPr lang="en-GB">
                <a:ea typeface="+mn-lt"/>
                <a:cs typeface="+mn-lt"/>
              </a:rPr>
              <a:t> vi </a:t>
            </a:r>
            <a:r>
              <a:rPr lang="en-GB" err="1">
                <a:ea typeface="+mn-lt"/>
                <a:cs typeface="+mn-lt"/>
              </a:rPr>
              <a:t>forbedret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representasjonen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av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setningene</a:t>
            </a:r>
            <a:r>
              <a:rPr lang="en-GB">
                <a:ea typeface="+mn-lt"/>
                <a:cs typeface="+mn-lt"/>
              </a:rPr>
              <a:t>? </a:t>
            </a:r>
            <a:endParaRPr lang="en-GB"/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87489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21_BasicWhite</vt:lpstr>
      <vt:lpstr>Vektorrom-representasjoner</vt:lpstr>
      <vt:lpstr>Om seminarene</vt:lpstr>
      <vt:lpstr>Bli kjent med hverandre: vektor, trekk og representasjon </vt:lpstr>
      <vt:lpstr>Bli kjent med hverandre: vektor, trekk og representasjon </vt:lpstr>
      <vt:lpstr>Undervisningsrom som Vektorrom</vt:lpstr>
      <vt:lpstr>Å måle likhet mellom vektorer</vt:lpstr>
      <vt:lpstr>Representere tekst som vektorer  </vt:lpstr>
      <vt:lpstr>Representere tekst som vektorer </vt:lpstr>
      <vt:lpstr>Representere tekst som vektorer </vt:lpstr>
      <vt:lpstr>Representere tekst som vektorer </vt:lpstr>
      <vt:lpstr>Setningslikhet: refleksjon</vt:lpstr>
      <vt:lpstr>Setningslikhet: beregninger </vt:lpstr>
      <vt:lpstr>Setningslikhet: diskusjon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2026-01-26T14:52:38Z</dcterms:modified>
</cp:coreProperties>
</file>